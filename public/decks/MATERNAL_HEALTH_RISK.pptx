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ivvic Bold" charset="1" panose="00000000000000000000"/>
      <p:regular r:id="rId14"/>
    </p:embeddedFont>
    <p:embeddedFont>
      <p:font typeface="Livvic" charset="1" panose="00000000000000000000"/>
      <p:regular r:id="rId15"/>
    </p:embeddedFont>
    <p:embeddedFont>
      <p:font typeface="Canva Sans" charset="1" panose="020B0503030501040103"/>
      <p:regular r:id="rId16"/>
    </p:embeddedFont>
    <p:embeddedFont>
      <p:font typeface="Canva Sans Bold" charset="1" panose="020B0803030501040103"/>
      <p:regular r:id="rId17"/>
    </p:embeddedFont>
    <p:embeddedFont>
      <p:font typeface="Tropikal" charset="1" panose="00000806000000000000"/>
      <p:regular r:id="rId18"/>
    </p:embeddedFont>
    <p:embeddedFont>
      <p:font typeface="Barlow Condensed" charset="1" panose="00000506000000000000"/>
      <p:regular r:id="rId19"/>
    </p:embeddedFont>
    <p:embeddedFont>
      <p:font typeface="Dekko" charset="1" panose="00000500000000000000"/>
      <p:regular r:id="rId20"/>
    </p:embeddedFont>
    <p:embeddedFont>
      <p:font typeface="Cooper BT Bold" charset="1" panose="0208080404030B020404"/>
      <p:regular r:id="rId21"/>
    </p:embeddedFont>
    <p:embeddedFont>
      <p:font typeface="Cooper BT Light" charset="1" panose="0208050304030B020404"/>
      <p:regular r:id="rId22"/>
    </p:embeddedFont>
    <p:embeddedFont>
      <p:font typeface="Coco Gothic Bold" charset="1" panose="00000000000000000000"/>
      <p:regular r:id="rId23"/>
    </p:embeddedFont>
    <p:embeddedFont>
      <p:font typeface="Coco Gothic"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965349"/>
            <a:ext cx="18288000" cy="1321651"/>
            <a:chOff x="0" y="0"/>
            <a:chExt cx="4816593" cy="348089"/>
          </a:xfrm>
        </p:grpSpPr>
        <p:sp>
          <p:nvSpPr>
            <p:cNvPr name="Freeform 3" id="3"/>
            <p:cNvSpPr/>
            <p:nvPr/>
          </p:nvSpPr>
          <p:spPr>
            <a:xfrm flipH="false" flipV="false" rot="0">
              <a:off x="0" y="0"/>
              <a:ext cx="4816592" cy="348089"/>
            </a:xfrm>
            <a:custGeom>
              <a:avLst/>
              <a:gdLst/>
              <a:ahLst/>
              <a:cxnLst/>
              <a:rect r="r" b="b" t="t" l="l"/>
              <a:pathLst>
                <a:path h="348089" w="4816592">
                  <a:moveTo>
                    <a:pt x="0" y="0"/>
                  </a:moveTo>
                  <a:lnTo>
                    <a:pt x="4816592" y="0"/>
                  </a:lnTo>
                  <a:lnTo>
                    <a:pt x="4816592" y="348089"/>
                  </a:lnTo>
                  <a:lnTo>
                    <a:pt x="0" y="348089"/>
                  </a:lnTo>
                  <a:close/>
                </a:path>
              </a:pathLst>
            </a:custGeom>
            <a:solidFill>
              <a:srgbClr val="595FA1"/>
            </a:solidFill>
          </p:spPr>
        </p:sp>
        <p:sp>
          <p:nvSpPr>
            <p:cNvPr name="TextBox 4" id="4"/>
            <p:cNvSpPr txBox="true"/>
            <p:nvPr/>
          </p:nvSpPr>
          <p:spPr>
            <a:xfrm>
              <a:off x="0" y="-38100"/>
              <a:ext cx="4816593" cy="38618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579912" y="4250854"/>
            <a:ext cx="7576752" cy="6036146"/>
          </a:xfrm>
          <a:custGeom>
            <a:avLst/>
            <a:gdLst/>
            <a:ahLst/>
            <a:cxnLst/>
            <a:rect r="r" b="b" t="t" l="l"/>
            <a:pathLst>
              <a:path h="6036146" w="7576752">
                <a:moveTo>
                  <a:pt x="0" y="0"/>
                </a:moveTo>
                <a:lnTo>
                  <a:pt x="7576752" y="0"/>
                </a:lnTo>
                <a:lnTo>
                  <a:pt x="7576752" y="6036146"/>
                </a:lnTo>
                <a:lnTo>
                  <a:pt x="0" y="6036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490632" y="1045494"/>
            <a:ext cx="316044" cy="316044"/>
          </a:xfrm>
          <a:custGeom>
            <a:avLst/>
            <a:gdLst/>
            <a:ahLst/>
            <a:cxnLst/>
            <a:rect r="r" b="b" t="t" l="l"/>
            <a:pathLst>
              <a:path h="316044" w="316044">
                <a:moveTo>
                  <a:pt x="0" y="0"/>
                </a:moveTo>
                <a:lnTo>
                  <a:pt x="316044" y="0"/>
                </a:lnTo>
                <a:lnTo>
                  <a:pt x="316044" y="316044"/>
                </a:lnTo>
                <a:lnTo>
                  <a:pt x="0" y="3160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12207" y="5640927"/>
            <a:ext cx="2430647" cy="2430647"/>
          </a:xfrm>
          <a:custGeom>
            <a:avLst/>
            <a:gdLst/>
            <a:ahLst/>
            <a:cxnLst/>
            <a:rect r="r" b="b" t="t" l="l"/>
            <a:pathLst>
              <a:path h="2430647" w="2430647">
                <a:moveTo>
                  <a:pt x="0" y="0"/>
                </a:moveTo>
                <a:lnTo>
                  <a:pt x="2430648" y="0"/>
                </a:lnTo>
                <a:lnTo>
                  <a:pt x="2430648" y="2430647"/>
                </a:lnTo>
                <a:lnTo>
                  <a:pt x="0" y="2430647"/>
                </a:lnTo>
                <a:lnTo>
                  <a:pt x="0" y="0"/>
                </a:lnTo>
                <a:close/>
              </a:path>
            </a:pathLst>
          </a:custGeom>
          <a:blipFill>
            <a:blip r:embed="rId6"/>
            <a:stretch>
              <a:fillRect l="0" t="0" r="0" b="0"/>
            </a:stretch>
          </a:blipFill>
        </p:spPr>
      </p:sp>
      <p:sp>
        <p:nvSpPr>
          <p:cNvPr name="Freeform 8" id="8"/>
          <p:cNvSpPr/>
          <p:nvPr/>
        </p:nvSpPr>
        <p:spPr>
          <a:xfrm flipH="false" flipV="false" rot="0">
            <a:off x="3318821" y="5640927"/>
            <a:ext cx="2375599" cy="2375599"/>
          </a:xfrm>
          <a:custGeom>
            <a:avLst/>
            <a:gdLst/>
            <a:ahLst/>
            <a:cxnLst/>
            <a:rect r="r" b="b" t="t" l="l"/>
            <a:pathLst>
              <a:path h="2375599" w="2375599">
                <a:moveTo>
                  <a:pt x="0" y="0"/>
                </a:moveTo>
                <a:lnTo>
                  <a:pt x="2375599" y="0"/>
                </a:lnTo>
                <a:lnTo>
                  <a:pt x="2375599" y="2375599"/>
                </a:lnTo>
                <a:lnTo>
                  <a:pt x="0" y="2375599"/>
                </a:lnTo>
                <a:lnTo>
                  <a:pt x="0" y="0"/>
                </a:lnTo>
                <a:close/>
              </a:path>
            </a:pathLst>
          </a:custGeom>
          <a:blipFill>
            <a:blip r:embed="rId7"/>
            <a:stretch>
              <a:fillRect l="0" t="0" r="0" b="0"/>
            </a:stretch>
          </a:blipFill>
        </p:spPr>
      </p:sp>
      <p:sp>
        <p:nvSpPr>
          <p:cNvPr name="Freeform 9" id="9"/>
          <p:cNvSpPr/>
          <p:nvPr/>
        </p:nvSpPr>
        <p:spPr>
          <a:xfrm flipH="false" flipV="false" rot="0">
            <a:off x="6234795" y="5521754"/>
            <a:ext cx="2549820" cy="2549820"/>
          </a:xfrm>
          <a:custGeom>
            <a:avLst/>
            <a:gdLst/>
            <a:ahLst/>
            <a:cxnLst/>
            <a:rect r="r" b="b" t="t" l="l"/>
            <a:pathLst>
              <a:path h="2549820" w="2549820">
                <a:moveTo>
                  <a:pt x="0" y="0"/>
                </a:moveTo>
                <a:lnTo>
                  <a:pt x="2549819" y="0"/>
                </a:lnTo>
                <a:lnTo>
                  <a:pt x="2549819" y="2549820"/>
                </a:lnTo>
                <a:lnTo>
                  <a:pt x="0" y="2549820"/>
                </a:lnTo>
                <a:lnTo>
                  <a:pt x="0" y="0"/>
                </a:lnTo>
                <a:close/>
              </a:path>
            </a:pathLst>
          </a:custGeom>
          <a:blipFill>
            <a:blip r:embed="rId8"/>
            <a:stretch>
              <a:fillRect l="0" t="0" r="0" b="0"/>
            </a:stretch>
          </a:blipFill>
        </p:spPr>
      </p:sp>
      <p:sp>
        <p:nvSpPr>
          <p:cNvPr name="TextBox 10" id="10"/>
          <p:cNvSpPr txBox="true"/>
          <p:nvPr/>
        </p:nvSpPr>
        <p:spPr>
          <a:xfrm rot="0">
            <a:off x="683756" y="1874033"/>
            <a:ext cx="16920488" cy="3510634"/>
          </a:xfrm>
          <a:prstGeom prst="rect">
            <a:avLst/>
          </a:prstGeom>
        </p:spPr>
        <p:txBody>
          <a:bodyPr anchor="t" rtlCol="false" tIns="0" lIns="0" bIns="0" rIns="0">
            <a:spAutoFit/>
          </a:bodyPr>
          <a:lstStyle/>
          <a:p>
            <a:pPr algn="ctr">
              <a:lnSpc>
                <a:spcPts val="10559"/>
              </a:lnSpc>
            </a:pPr>
            <a:r>
              <a:rPr lang="en-US" sz="10999" b="true">
                <a:solidFill>
                  <a:srgbClr val="18253B"/>
                </a:solidFill>
                <a:latin typeface="Livvic Bold"/>
                <a:ea typeface="Livvic Bold"/>
                <a:cs typeface="Livvic Bold"/>
                <a:sym typeface="Livvic Bold"/>
              </a:rPr>
              <a:t>MATERNAL HEALTH RISK</a:t>
            </a:r>
          </a:p>
        </p:txBody>
      </p:sp>
      <p:sp>
        <p:nvSpPr>
          <p:cNvPr name="TextBox 11" id="11"/>
          <p:cNvSpPr txBox="true"/>
          <p:nvPr/>
        </p:nvSpPr>
        <p:spPr>
          <a:xfrm rot="0">
            <a:off x="6188041" y="3659865"/>
            <a:ext cx="4990693" cy="313250"/>
          </a:xfrm>
          <a:prstGeom prst="rect">
            <a:avLst/>
          </a:prstGeom>
        </p:spPr>
        <p:txBody>
          <a:bodyPr anchor="t" rtlCol="false" tIns="0" lIns="0" bIns="0" rIns="0">
            <a:spAutoFit/>
          </a:bodyPr>
          <a:lstStyle/>
          <a:p>
            <a:pPr algn="ctr">
              <a:lnSpc>
                <a:spcPts val="2366"/>
              </a:lnSpc>
            </a:pPr>
            <a:r>
              <a:rPr lang="en-US" sz="2464">
                <a:solidFill>
                  <a:srgbClr val="18253B"/>
                </a:solidFill>
                <a:latin typeface="Livvic"/>
                <a:ea typeface="Livvic"/>
                <a:cs typeface="Livvic"/>
                <a:sym typeface="Livvic"/>
              </a:rPr>
              <a:t>GROUP 43</a:t>
            </a:r>
          </a:p>
        </p:txBody>
      </p:sp>
      <p:sp>
        <p:nvSpPr>
          <p:cNvPr name="TextBox 12" id="12"/>
          <p:cNvSpPr txBox="true"/>
          <p:nvPr/>
        </p:nvSpPr>
        <p:spPr>
          <a:xfrm rot="0">
            <a:off x="7097227" y="1085850"/>
            <a:ext cx="4990693" cy="608525"/>
          </a:xfrm>
          <a:prstGeom prst="rect">
            <a:avLst/>
          </a:prstGeom>
        </p:spPr>
        <p:txBody>
          <a:bodyPr anchor="t" rtlCol="false" tIns="0" lIns="0" bIns="0" rIns="0">
            <a:spAutoFit/>
          </a:bodyPr>
          <a:lstStyle/>
          <a:p>
            <a:pPr algn="l">
              <a:lnSpc>
                <a:spcPts val="2366"/>
              </a:lnSpc>
            </a:pPr>
            <a:r>
              <a:rPr lang="en-US" sz="2464">
                <a:solidFill>
                  <a:srgbClr val="18253B"/>
                </a:solidFill>
                <a:latin typeface="Livvic"/>
                <a:ea typeface="Livvic"/>
                <a:cs typeface="Livvic"/>
                <a:sym typeface="Livvic"/>
              </a:rPr>
              <a:t>INTRODUCTION TO MACHINE LEARNING</a:t>
            </a:r>
          </a:p>
        </p:txBody>
      </p:sp>
      <p:sp>
        <p:nvSpPr>
          <p:cNvPr name="TextBox 13" id="13"/>
          <p:cNvSpPr txBox="true"/>
          <p:nvPr/>
        </p:nvSpPr>
        <p:spPr>
          <a:xfrm rot="0">
            <a:off x="885139" y="8171777"/>
            <a:ext cx="1484784" cy="323215"/>
          </a:xfrm>
          <a:prstGeom prst="rect">
            <a:avLst/>
          </a:prstGeom>
        </p:spPr>
        <p:txBody>
          <a:bodyPr anchor="t" rtlCol="false" tIns="0" lIns="0" bIns="0" rIns="0">
            <a:spAutoFit/>
          </a:bodyPr>
          <a:lstStyle/>
          <a:p>
            <a:pPr algn="ctr">
              <a:lnSpc>
                <a:spcPts val="2659"/>
              </a:lnSpc>
              <a:spcBef>
                <a:spcPct val="0"/>
              </a:spcBef>
            </a:pPr>
            <a:r>
              <a:rPr lang="en-US" sz="1899">
                <a:solidFill>
                  <a:srgbClr val="18253B"/>
                </a:solidFill>
                <a:latin typeface="Canva Sans"/>
                <a:ea typeface="Canva Sans"/>
                <a:cs typeface="Canva Sans"/>
                <a:sym typeface="Canva Sans"/>
              </a:rPr>
              <a:t>Sanchit Garg</a:t>
            </a:r>
          </a:p>
        </p:txBody>
      </p:sp>
      <p:sp>
        <p:nvSpPr>
          <p:cNvPr name="TextBox 14" id="14"/>
          <p:cNvSpPr txBox="true"/>
          <p:nvPr/>
        </p:nvSpPr>
        <p:spPr>
          <a:xfrm rot="0">
            <a:off x="3902378" y="8171777"/>
            <a:ext cx="1208484" cy="323215"/>
          </a:xfrm>
          <a:prstGeom prst="rect">
            <a:avLst/>
          </a:prstGeom>
        </p:spPr>
        <p:txBody>
          <a:bodyPr anchor="t" rtlCol="false" tIns="0" lIns="0" bIns="0" rIns="0">
            <a:spAutoFit/>
          </a:bodyPr>
          <a:lstStyle/>
          <a:p>
            <a:pPr algn="ctr">
              <a:lnSpc>
                <a:spcPts val="2659"/>
              </a:lnSpc>
              <a:spcBef>
                <a:spcPct val="0"/>
              </a:spcBef>
            </a:pPr>
            <a:r>
              <a:rPr lang="en-US" sz="1899">
                <a:solidFill>
                  <a:srgbClr val="18253B"/>
                </a:solidFill>
                <a:latin typeface="Canva Sans"/>
                <a:ea typeface="Canva Sans"/>
                <a:cs typeface="Canva Sans"/>
                <a:sym typeface="Canva Sans"/>
              </a:rPr>
              <a:t>Aman Jain</a:t>
            </a:r>
          </a:p>
        </p:txBody>
      </p:sp>
      <p:sp>
        <p:nvSpPr>
          <p:cNvPr name="TextBox 15" id="15"/>
          <p:cNvSpPr txBox="true"/>
          <p:nvPr/>
        </p:nvSpPr>
        <p:spPr>
          <a:xfrm rot="0">
            <a:off x="6806676" y="8171777"/>
            <a:ext cx="1476896" cy="323215"/>
          </a:xfrm>
          <a:prstGeom prst="rect">
            <a:avLst/>
          </a:prstGeom>
        </p:spPr>
        <p:txBody>
          <a:bodyPr anchor="t" rtlCol="false" tIns="0" lIns="0" bIns="0" rIns="0">
            <a:spAutoFit/>
          </a:bodyPr>
          <a:lstStyle/>
          <a:p>
            <a:pPr algn="ctr">
              <a:lnSpc>
                <a:spcPts val="2659"/>
              </a:lnSpc>
              <a:spcBef>
                <a:spcPct val="0"/>
              </a:spcBef>
            </a:pPr>
            <a:r>
              <a:rPr lang="en-US" sz="1899">
                <a:solidFill>
                  <a:srgbClr val="18253B"/>
                </a:solidFill>
                <a:latin typeface="Canva Sans"/>
                <a:ea typeface="Canva Sans"/>
                <a:cs typeface="Canva Sans"/>
                <a:sym typeface="Canva Sans"/>
              </a:rPr>
              <a:t>Rahul Kumar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965349"/>
            <a:ext cx="18288000" cy="1321651"/>
            <a:chOff x="0" y="0"/>
            <a:chExt cx="4816593" cy="348089"/>
          </a:xfrm>
        </p:grpSpPr>
        <p:sp>
          <p:nvSpPr>
            <p:cNvPr name="Freeform 3" id="3"/>
            <p:cNvSpPr/>
            <p:nvPr/>
          </p:nvSpPr>
          <p:spPr>
            <a:xfrm flipH="false" flipV="false" rot="0">
              <a:off x="0" y="0"/>
              <a:ext cx="4816592" cy="348089"/>
            </a:xfrm>
            <a:custGeom>
              <a:avLst/>
              <a:gdLst/>
              <a:ahLst/>
              <a:cxnLst/>
              <a:rect r="r" b="b" t="t" l="l"/>
              <a:pathLst>
                <a:path h="348089" w="4816592">
                  <a:moveTo>
                    <a:pt x="0" y="0"/>
                  </a:moveTo>
                  <a:lnTo>
                    <a:pt x="4816592" y="0"/>
                  </a:lnTo>
                  <a:lnTo>
                    <a:pt x="4816592" y="348089"/>
                  </a:lnTo>
                  <a:lnTo>
                    <a:pt x="0" y="348089"/>
                  </a:lnTo>
                  <a:close/>
                </a:path>
              </a:pathLst>
            </a:custGeom>
            <a:solidFill>
              <a:srgbClr val="FF6A48"/>
            </a:solidFill>
          </p:spPr>
        </p:sp>
        <p:sp>
          <p:nvSpPr>
            <p:cNvPr name="TextBox 4" id="4"/>
            <p:cNvSpPr txBox="true"/>
            <p:nvPr/>
          </p:nvSpPr>
          <p:spPr>
            <a:xfrm>
              <a:off x="0" y="-38100"/>
              <a:ext cx="4816593" cy="38618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25262" y="3482416"/>
            <a:ext cx="7764140" cy="5378051"/>
          </a:xfrm>
          <a:custGeom>
            <a:avLst/>
            <a:gdLst/>
            <a:ahLst/>
            <a:cxnLst/>
            <a:rect r="r" b="b" t="t" l="l"/>
            <a:pathLst>
              <a:path h="5378051" w="7764140">
                <a:moveTo>
                  <a:pt x="0" y="0"/>
                </a:moveTo>
                <a:lnTo>
                  <a:pt x="7764140" y="0"/>
                </a:lnTo>
                <a:lnTo>
                  <a:pt x="7764140" y="5378051"/>
                </a:lnTo>
                <a:lnTo>
                  <a:pt x="0" y="5378051"/>
                </a:lnTo>
                <a:lnTo>
                  <a:pt x="0" y="0"/>
                </a:lnTo>
                <a:close/>
              </a:path>
            </a:pathLst>
          </a:custGeom>
          <a:blipFill>
            <a:blip r:embed="rId2"/>
            <a:stretch>
              <a:fillRect l="-194" t="0" r="-194" b="0"/>
            </a:stretch>
          </a:blipFill>
        </p:spPr>
      </p:sp>
      <p:sp>
        <p:nvSpPr>
          <p:cNvPr name="TextBox 6" id="6"/>
          <p:cNvSpPr txBox="true"/>
          <p:nvPr/>
        </p:nvSpPr>
        <p:spPr>
          <a:xfrm rot="0">
            <a:off x="4299845" y="540829"/>
            <a:ext cx="9688310" cy="1185292"/>
          </a:xfrm>
          <a:prstGeom prst="rect">
            <a:avLst/>
          </a:prstGeom>
        </p:spPr>
        <p:txBody>
          <a:bodyPr anchor="t" rtlCol="false" tIns="0" lIns="0" bIns="0" rIns="0">
            <a:spAutoFit/>
          </a:bodyPr>
          <a:lstStyle/>
          <a:p>
            <a:pPr algn="ctr">
              <a:lnSpc>
                <a:spcPts val="8832"/>
              </a:lnSpc>
            </a:pPr>
            <a:r>
              <a:rPr lang="en-US" sz="9200" b="true">
                <a:solidFill>
                  <a:srgbClr val="18253B"/>
                </a:solidFill>
                <a:latin typeface="Livvic Bold"/>
                <a:ea typeface="Livvic Bold"/>
                <a:cs typeface="Livvic Bold"/>
                <a:sym typeface="Livvic Bold"/>
              </a:rPr>
              <a:t>About The Data</a:t>
            </a:r>
          </a:p>
        </p:txBody>
      </p:sp>
      <p:sp>
        <p:nvSpPr>
          <p:cNvPr name="TextBox 7" id="7"/>
          <p:cNvSpPr txBox="true"/>
          <p:nvPr/>
        </p:nvSpPr>
        <p:spPr>
          <a:xfrm rot="0">
            <a:off x="3874388" y="1716596"/>
            <a:ext cx="10835394" cy="1612689"/>
          </a:xfrm>
          <a:prstGeom prst="rect">
            <a:avLst/>
          </a:prstGeom>
        </p:spPr>
        <p:txBody>
          <a:bodyPr anchor="t" rtlCol="false" tIns="0" lIns="0" bIns="0" rIns="0">
            <a:spAutoFit/>
          </a:bodyPr>
          <a:lstStyle/>
          <a:p>
            <a:pPr algn="ctr" marL="0" indent="0" lvl="0">
              <a:lnSpc>
                <a:spcPts val="3193"/>
              </a:lnSpc>
            </a:pPr>
            <a:r>
              <a:rPr lang="en-US" sz="2555">
                <a:solidFill>
                  <a:srgbClr val="18253B"/>
                </a:solidFill>
                <a:latin typeface="Livvic"/>
                <a:ea typeface="Livvic"/>
                <a:cs typeface="Livvic"/>
                <a:sym typeface="Livvic"/>
              </a:rPr>
              <a:t>The pregnancy dataset captures the delicate dance between age, vital signs, and health risk levels of expectant mothers. It offers a window into the extraordinary biological journey of bringing new life into the world, inviting us to uncover the patterns and insights that lie within the data.</a:t>
            </a:r>
          </a:p>
        </p:txBody>
      </p:sp>
      <p:sp>
        <p:nvSpPr>
          <p:cNvPr name="TextBox 8" id="8"/>
          <p:cNvSpPr txBox="true"/>
          <p:nvPr/>
        </p:nvSpPr>
        <p:spPr>
          <a:xfrm rot="5400000">
            <a:off x="6528556" y="5808341"/>
            <a:ext cx="5097537" cy="726201"/>
          </a:xfrm>
          <a:prstGeom prst="rect">
            <a:avLst/>
          </a:prstGeom>
        </p:spPr>
        <p:txBody>
          <a:bodyPr anchor="t" rtlCol="false" tIns="0" lIns="0" bIns="0" rIns="0">
            <a:spAutoFit/>
          </a:bodyPr>
          <a:lstStyle/>
          <a:p>
            <a:pPr algn="ctr">
              <a:lnSpc>
                <a:spcPts val="5472"/>
              </a:lnSpc>
            </a:pPr>
            <a:r>
              <a:rPr lang="en-US" sz="5700" b="true">
                <a:solidFill>
                  <a:srgbClr val="18253B"/>
                </a:solidFill>
                <a:latin typeface="Livvic Bold"/>
                <a:ea typeface="Livvic Bold"/>
                <a:cs typeface="Livvic Bold"/>
                <a:sym typeface="Livvic Bold"/>
              </a:rPr>
              <a:t>HISTOGRAMS</a:t>
            </a:r>
          </a:p>
        </p:txBody>
      </p:sp>
      <p:sp>
        <p:nvSpPr>
          <p:cNvPr name="TextBox 9" id="9"/>
          <p:cNvSpPr txBox="true"/>
          <p:nvPr/>
        </p:nvSpPr>
        <p:spPr>
          <a:xfrm rot="0">
            <a:off x="9951611" y="3472891"/>
            <a:ext cx="7307689" cy="6013027"/>
          </a:xfrm>
          <a:prstGeom prst="rect">
            <a:avLst/>
          </a:prstGeom>
        </p:spPr>
        <p:txBody>
          <a:bodyPr anchor="t" rtlCol="false" tIns="0" lIns="0" bIns="0" rIns="0">
            <a:spAutoFit/>
          </a:bodyPr>
          <a:lstStyle/>
          <a:p>
            <a:pPr algn="ctr" marL="519393" indent="-259697" lvl="1">
              <a:lnSpc>
                <a:spcPts val="3007"/>
              </a:lnSpc>
              <a:buFont typeface="Arial"/>
              <a:buChar char="•"/>
            </a:pPr>
            <a:r>
              <a:rPr lang="en-US" b="true" sz="2405">
                <a:solidFill>
                  <a:srgbClr val="18253B"/>
                </a:solidFill>
                <a:latin typeface="Livvic Bold"/>
                <a:ea typeface="Livvic Bold"/>
                <a:cs typeface="Livvic Bold"/>
                <a:sym typeface="Livvic Bold"/>
              </a:rPr>
              <a:t>KNN</a:t>
            </a:r>
            <a:r>
              <a:rPr lang="en-US" sz="2405">
                <a:solidFill>
                  <a:srgbClr val="18253B"/>
                </a:solidFill>
                <a:latin typeface="Livvic"/>
                <a:ea typeface="Livvic"/>
                <a:cs typeface="Livvic"/>
                <a:sym typeface="Livvic"/>
              </a:rPr>
              <a:t>: Works well for clustered features like Age and BodyTemp; scaling is needed due to differing ranges (e.g., SystolicBP vs. HeartRate).</a:t>
            </a:r>
          </a:p>
          <a:p>
            <a:pPr algn="ctr">
              <a:lnSpc>
                <a:spcPts val="3007"/>
              </a:lnSpc>
            </a:pPr>
          </a:p>
          <a:p>
            <a:pPr algn="ctr" marL="519393" indent="-259697" lvl="1">
              <a:lnSpc>
                <a:spcPts val="3007"/>
              </a:lnSpc>
              <a:buFont typeface="Arial"/>
              <a:buChar char="•"/>
            </a:pPr>
            <a:r>
              <a:rPr lang="en-US" b="true" sz="2405">
                <a:solidFill>
                  <a:srgbClr val="18253B"/>
                </a:solidFill>
                <a:latin typeface="Livvic Bold"/>
                <a:ea typeface="Livvic Bold"/>
                <a:cs typeface="Livvic Bold"/>
                <a:sym typeface="Livvic Bold"/>
              </a:rPr>
              <a:t>Random Forest</a:t>
            </a:r>
            <a:r>
              <a:rPr lang="en-US" sz="2405">
                <a:solidFill>
                  <a:srgbClr val="18253B"/>
                </a:solidFill>
                <a:latin typeface="Livvic"/>
                <a:ea typeface="Livvic"/>
                <a:cs typeface="Livvic"/>
                <a:sym typeface="Livvic"/>
              </a:rPr>
              <a:t>: Handles high variance and outliers well (e.g., in DiastolicBP and BS); no scaling needed.</a:t>
            </a:r>
          </a:p>
          <a:p>
            <a:pPr algn="ctr">
              <a:lnSpc>
                <a:spcPts val="3007"/>
              </a:lnSpc>
            </a:pPr>
          </a:p>
          <a:p>
            <a:pPr algn="ctr" marL="519393" indent="-259697" lvl="1">
              <a:lnSpc>
                <a:spcPts val="3007"/>
              </a:lnSpc>
              <a:buFont typeface="Arial"/>
              <a:buChar char="•"/>
            </a:pPr>
            <a:r>
              <a:rPr lang="en-US" b="true" sz="2405">
                <a:solidFill>
                  <a:srgbClr val="18253B"/>
                </a:solidFill>
                <a:latin typeface="Livvic Bold"/>
                <a:ea typeface="Livvic Bold"/>
                <a:cs typeface="Livvic Bold"/>
                <a:sym typeface="Livvic Bold"/>
              </a:rPr>
              <a:t>Non-Linear SVM: </a:t>
            </a:r>
            <a:r>
              <a:rPr lang="en-US" sz="2405">
                <a:solidFill>
                  <a:srgbClr val="18253B"/>
                </a:solidFill>
                <a:latin typeface="Livvic"/>
                <a:ea typeface="Livvic"/>
                <a:cs typeface="Livvic"/>
                <a:sym typeface="Livvic"/>
              </a:rPr>
              <a:t>SVM uses kernel functions, like polynomial or RBF, to classify non-linearly separable features by transforming data into higher-dimensional space. The class_weight='balanced' option adjusts class weights to handle imbalanced distributions.</a:t>
            </a:r>
          </a:p>
          <a:p>
            <a:pPr algn="ctr">
              <a:lnSpc>
                <a:spcPts val="3007"/>
              </a:lnSpc>
            </a:pPr>
          </a:p>
          <a:p>
            <a:pPr algn="ctr" marL="0" indent="0" lvl="0">
              <a:lnSpc>
                <a:spcPts val="300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927438"/>
            <a:ext cx="18288000" cy="2359562"/>
            <a:chOff x="0" y="0"/>
            <a:chExt cx="4816593" cy="621448"/>
          </a:xfrm>
        </p:grpSpPr>
        <p:sp>
          <p:nvSpPr>
            <p:cNvPr name="Freeform 3" id="3"/>
            <p:cNvSpPr/>
            <p:nvPr/>
          </p:nvSpPr>
          <p:spPr>
            <a:xfrm flipH="false" flipV="false" rot="0">
              <a:off x="0" y="0"/>
              <a:ext cx="4816592" cy="621448"/>
            </a:xfrm>
            <a:custGeom>
              <a:avLst/>
              <a:gdLst/>
              <a:ahLst/>
              <a:cxnLst/>
              <a:rect r="r" b="b" t="t" l="l"/>
              <a:pathLst>
                <a:path h="621448" w="4816592">
                  <a:moveTo>
                    <a:pt x="0" y="0"/>
                  </a:moveTo>
                  <a:lnTo>
                    <a:pt x="4816592" y="0"/>
                  </a:lnTo>
                  <a:lnTo>
                    <a:pt x="4816592" y="621448"/>
                  </a:lnTo>
                  <a:lnTo>
                    <a:pt x="0" y="621448"/>
                  </a:lnTo>
                  <a:close/>
                </a:path>
              </a:pathLst>
            </a:custGeom>
            <a:solidFill>
              <a:srgbClr val="5EB2BA"/>
            </a:solidFill>
          </p:spPr>
        </p:sp>
        <p:sp>
          <p:nvSpPr>
            <p:cNvPr name="TextBox 4" id="4"/>
            <p:cNvSpPr txBox="true"/>
            <p:nvPr/>
          </p:nvSpPr>
          <p:spPr>
            <a:xfrm>
              <a:off x="0" y="-38100"/>
              <a:ext cx="4816593" cy="65954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05076" y="1181312"/>
            <a:ext cx="3327971" cy="2968442"/>
          </a:xfrm>
          <a:custGeom>
            <a:avLst/>
            <a:gdLst/>
            <a:ahLst/>
            <a:cxnLst/>
            <a:rect r="r" b="b" t="t" l="l"/>
            <a:pathLst>
              <a:path h="2968442" w="3327971">
                <a:moveTo>
                  <a:pt x="0" y="0"/>
                </a:moveTo>
                <a:lnTo>
                  <a:pt x="3327971" y="0"/>
                </a:lnTo>
                <a:lnTo>
                  <a:pt x="3327971" y="2968442"/>
                </a:lnTo>
                <a:lnTo>
                  <a:pt x="0" y="2968442"/>
                </a:lnTo>
                <a:lnTo>
                  <a:pt x="0" y="0"/>
                </a:lnTo>
                <a:close/>
              </a:path>
            </a:pathLst>
          </a:custGeom>
          <a:blipFill>
            <a:blip r:embed="rId2"/>
            <a:stretch>
              <a:fillRect l="-221" t="0" r="0" b="0"/>
            </a:stretch>
          </a:blipFill>
        </p:spPr>
      </p:sp>
      <p:sp>
        <p:nvSpPr>
          <p:cNvPr name="Freeform 6" id="6"/>
          <p:cNvSpPr/>
          <p:nvPr/>
        </p:nvSpPr>
        <p:spPr>
          <a:xfrm flipH="false" flipV="false" rot="0">
            <a:off x="4682001" y="1181312"/>
            <a:ext cx="5896313" cy="2968442"/>
          </a:xfrm>
          <a:custGeom>
            <a:avLst/>
            <a:gdLst/>
            <a:ahLst/>
            <a:cxnLst/>
            <a:rect r="r" b="b" t="t" l="l"/>
            <a:pathLst>
              <a:path h="2968442" w="5896313">
                <a:moveTo>
                  <a:pt x="0" y="0"/>
                </a:moveTo>
                <a:lnTo>
                  <a:pt x="5896313" y="0"/>
                </a:lnTo>
                <a:lnTo>
                  <a:pt x="5896313" y="2968442"/>
                </a:lnTo>
                <a:lnTo>
                  <a:pt x="0" y="2968442"/>
                </a:lnTo>
                <a:lnTo>
                  <a:pt x="0" y="0"/>
                </a:lnTo>
                <a:close/>
              </a:path>
            </a:pathLst>
          </a:custGeom>
          <a:blipFill>
            <a:blip r:embed="rId3"/>
            <a:stretch>
              <a:fillRect l="-2578" t="0" r="-2578" b="0"/>
            </a:stretch>
          </a:blipFill>
        </p:spPr>
      </p:sp>
      <p:sp>
        <p:nvSpPr>
          <p:cNvPr name="Freeform 7" id="7"/>
          <p:cNvSpPr/>
          <p:nvPr/>
        </p:nvSpPr>
        <p:spPr>
          <a:xfrm flipH="false" flipV="false" rot="0">
            <a:off x="11575322" y="1181312"/>
            <a:ext cx="5683978" cy="2968442"/>
          </a:xfrm>
          <a:custGeom>
            <a:avLst/>
            <a:gdLst/>
            <a:ahLst/>
            <a:cxnLst/>
            <a:rect r="r" b="b" t="t" l="l"/>
            <a:pathLst>
              <a:path h="2968442" w="5683978">
                <a:moveTo>
                  <a:pt x="0" y="0"/>
                </a:moveTo>
                <a:lnTo>
                  <a:pt x="5683978" y="0"/>
                </a:lnTo>
                <a:lnTo>
                  <a:pt x="5683978" y="2968442"/>
                </a:lnTo>
                <a:lnTo>
                  <a:pt x="0" y="2968442"/>
                </a:lnTo>
                <a:lnTo>
                  <a:pt x="0" y="0"/>
                </a:lnTo>
                <a:close/>
              </a:path>
            </a:pathLst>
          </a:custGeom>
          <a:blipFill>
            <a:blip r:embed="rId4"/>
            <a:stretch>
              <a:fillRect l="0" t="0" r="-1489" b="0"/>
            </a:stretch>
          </a:blipFill>
        </p:spPr>
      </p:sp>
      <p:sp>
        <p:nvSpPr>
          <p:cNvPr name="TextBox 8" id="8"/>
          <p:cNvSpPr txBox="true"/>
          <p:nvPr/>
        </p:nvSpPr>
        <p:spPr>
          <a:xfrm rot="0">
            <a:off x="1420221" y="133350"/>
            <a:ext cx="15447557" cy="773430"/>
          </a:xfrm>
          <a:prstGeom prst="rect">
            <a:avLst/>
          </a:prstGeom>
        </p:spPr>
        <p:txBody>
          <a:bodyPr anchor="t" rtlCol="false" tIns="0" lIns="0" bIns="0" rIns="0">
            <a:spAutoFit/>
          </a:bodyPr>
          <a:lstStyle/>
          <a:p>
            <a:pPr algn="ctr">
              <a:lnSpc>
                <a:spcPts val="5759"/>
              </a:lnSpc>
            </a:pPr>
            <a:r>
              <a:rPr lang="en-US" sz="6000" b="true">
                <a:solidFill>
                  <a:srgbClr val="18253B"/>
                </a:solidFill>
                <a:latin typeface="Livvic Bold"/>
                <a:ea typeface="Livvic Bold"/>
                <a:cs typeface="Livvic Bold"/>
                <a:sym typeface="Livvic Bold"/>
              </a:rPr>
              <a:t>Exploratory Data Analysis</a:t>
            </a:r>
          </a:p>
        </p:txBody>
      </p:sp>
      <p:sp>
        <p:nvSpPr>
          <p:cNvPr name="TextBox 9" id="9"/>
          <p:cNvSpPr txBox="true"/>
          <p:nvPr/>
        </p:nvSpPr>
        <p:spPr>
          <a:xfrm rot="0">
            <a:off x="305076" y="4111654"/>
            <a:ext cx="3327971" cy="656590"/>
          </a:xfrm>
          <a:prstGeom prst="rect">
            <a:avLst/>
          </a:prstGeom>
        </p:spPr>
        <p:txBody>
          <a:bodyPr anchor="t" rtlCol="false" tIns="0" lIns="0" bIns="0" rIns="0">
            <a:spAutoFit/>
          </a:bodyPr>
          <a:lstStyle/>
          <a:p>
            <a:pPr algn="ctr">
              <a:lnSpc>
                <a:spcPts val="2659"/>
              </a:lnSpc>
              <a:spcBef>
                <a:spcPct val="0"/>
              </a:spcBef>
            </a:pPr>
            <a:r>
              <a:rPr lang="en-US" b="true" sz="1899">
                <a:solidFill>
                  <a:srgbClr val="18253B"/>
                </a:solidFill>
                <a:latin typeface="Canva Sans Bold"/>
                <a:ea typeface="Canva Sans Bold"/>
                <a:cs typeface="Canva Sans Bold"/>
                <a:sym typeface="Canva Sans Bold"/>
              </a:rPr>
              <a:t>Distribution of three classes as given in data</a:t>
            </a:r>
          </a:p>
        </p:txBody>
      </p:sp>
      <p:sp>
        <p:nvSpPr>
          <p:cNvPr name="TextBox 10" id="10"/>
          <p:cNvSpPr txBox="true"/>
          <p:nvPr/>
        </p:nvSpPr>
        <p:spPr>
          <a:xfrm rot="0">
            <a:off x="0" y="4952428"/>
            <a:ext cx="18288000" cy="2752725"/>
          </a:xfrm>
          <a:prstGeom prst="rect">
            <a:avLst/>
          </a:prstGeom>
        </p:spPr>
        <p:txBody>
          <a:bodyPr anchor="t" rtlCol="false" tIns="0" lIns="0" bIns="0" rIns="0">
            <a:spAutoFit/>
          </a:bodyPr>
          <a:lstStyle/>
          <a:p>
            <a:pPr algn="ctr">
              <a:lnSpc>
                <a:spcPts val="3079"/>
              </a:lnSpc>
            </a:pPr>
            <a:r>
              <a:rPr lang="en-US" sz="2199">
                <a:solidFill>
                  <a:srgbClr val="18253B"/>
                </a:solidFill>
                <a:latin typeface="Canva Sans"/>
                <a:ea typeface="Canva Sans"/>
                <a:cs typeface="Canva Sans"/>
                <a:sym typeface="Canva Sans"/>
              </a:rPr>
              <a:t>The pair plots reveal varying degrees of separation among classes in feature spaces, indicating that some features may help differentiate classes better than others. </a:t>
            </a:r>
            <a:r>
              <a:rPr lang="en-US" sz="2199" b="true">
                <a:solidFill>
                  <a:srgbClr val="18253B"/>
                </a:solidFill>
                <a:latin typeface="Canva Sans Bold"/>
                <a:ea typeface="Canva Sans Bold"/>
                <a:cs typeface="Canva Sans Bold"/>
                <a:sym typeface="Canva Sans Bold"/>
              </a:rPr>
              <a:t>K-Nearest Neighbours (KNN) </a:t>
            </a:r>
            <a:r>
              <a:rPr lang="en-US" sz="2199">
                <a:solidFill>
                  <a:srgbClr val="18253B"/>
                </a:solidFill>
                <a:latin typeface="Canva Sans"/>
                <a:ea typeface="Canva Sans"/>
                <a:cs typeface="Canva Sans"/>
                <a:sym typeface="Canva Sans"/>
              </a:rPr>
              <a:t>is suitable here because certain clusters and local groupings are visible, allowing it to classify based on proximity. </a:t>
            </a:r>
          </a:p>
          <a:p>
            <a:pPr algn="ctr">
              <a:lnSpc>
                <a:spcPts val="3219"/>
              </a:lnSpc>
              <a:spcBef>
                <a:spcPct val="0"/>
              </a:spcBef>
            </a:pPr>
            <a:r>
              <a:rPr lang="en-US" b="true" sz="2299">
                <a:solidFill>
                  <a:srgbClr val="18253B"/>
                </a:solidFill>
                <a:latin typeface="Canva Sans Bold"/>
                <a:ea typeface="Canva Sans Bold"/>
                <a:cs typeface="Canva Sans Bold"/>
                <a:sym typeface="Canva Sans Bold"/>
              </a:rPr>
              <a:t>Random Forest </a:t>
            </a:r>
            <a:r>
              <a:rPr lang="en-US" sz="2299">
                <a:solidFill>
                  <a:srgbClr val="18253B"/>
                </a:solidFill>
                <a:latin typeface="Canva Sans"/>
                <a:ea typeface="Canva Sans"/>
                <a:cs typeface="Canva Sans"/>
                <a:sym typeface="Canva Sans"/>
              </a:rPr>
              <a:t>can effectively leverage the dataset's complex relationships and interactions between features through its ensemble of decision trees, handling non-linear separations observed in several plots.</a:t>
            </a:r>
            <a:r>
              <a:rPr lang="en-US" b="true" sz="2299">
                <a:solidFill>
                  <a:srgbClr val="18253B"/>
                </a:solidFill>
                <a:latin typeface="Canva Sans Bold"/>
                <a:ea typeface="Canva Sans Bold"/>
                <a:cs typeface="Canva Sans Bold"/>
                <a:sym typeface="Canva Sans Bold"/>
              </a:rPr>
              <a:t> Linear SVM, </a:t>
            </a:r>
            <a:r>
              <a:rPr lang="en-US" sz="2299">
                <a:solidFill>
                  <a:srgbClr val="18253B"/>
                </a:solidFill>
                <a:latin typeface="Canva Sans"/>
                <a:ea typeface="Canva Sans"/>
                <a:cs typeface="Canva Sans"/>
                <a:sym typeface="Canva Sans"/>
              </a:rPr>
              <a:t>while not ideal for highly overlapping data, may still capture basic linear separations for pairs with clearer boundaries, though it might struggle in more mixed regions. Together, these models can leverage different aspects of the feature distributions to improve classification.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965349"/>
            <a:ext cx="18288000" cy="1321651"/>
            <a:chOff x="0" y="0"/>
            <a:chExt cx="4816593" cy="348089"/>
          </a:xfrm>
        </p:grpSpPr>
        <p:sp>
          <p:nvSpPr>
            <p:cNvPr name="Freeform 3" id="3"/>
            <p:cNvSpPr/>
            <p:nvPr/>
          </p:nvSpPr>
          <p:spPr>
            <a:xfrm flipH="false" flipV="false" rot="0">
              <a:off x="0" y="0"/>
              <a:ext cx="4816592" cy="348089"/>
            </a:xfrm>
            <a:custGeom>
              <a:avLst/>
              <a:gdLst/>
              <a:ahLst/>
              <a:cxnLst/>
              <a:rect r="r" b="b" t="t" l="l"/>
              <a:pathLst>
                <a:path h="348089" w="4816592">
                  <a:moveTo>
                    <a:pt x="0" y="0"/>
                  </a:moveTo>
                  <a:lnTo>
                    <a:pt x="4816592" y="0"/>
                  </a:lnTo>
                  <a:lnTo>
                    <a:pt x="4816592" y="348089"/>
                  </a:lnTo>
                  <a:lnTo>
                    <a:pt x="0" y="348089"/>
                  </a:lnTo>
                  <a:close/>
                </a:path>
              </a:pathLst>
            </a:custGeom>
            <a:solidFill>
              <a:srgbClr val="565FA6"/>
            </a:solidFill>
          </p:spPr>
        </p:sp>
        <p:sp>
          <p:nvSpPr>
            <p:cNvPr name="TextBox 4" id="4"/>
            <p:cNvSpPr txBox="true"/>
            <p:nvPr/>
          </p:nvSpPr>
          <p:spPr>
            <a:xfrm>
              <a:off x="0" y="-38100"/>
              <a:ext cx="4816593" cy="38618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801019" y="668807"/>
            <a:ext cx="2943215" cy="2558506"/>
          </a:xfrm>
          <a:custGeom>
            <a:avLst/>
            <a:gdLst/>
            <a:ahLst/>
            <a:cxnLst/>
            <a:rect r="r" b="b" t="t" l="l"/>
            <a:pathLst>
              <a:path h="2558506" w="2943215">
                <a:moveTo>
                  <a:pt x="0" y="0"/>
                </a:moveTo>
                <a:lnTo>
                  <a:pt x="2943215" y="0"/>
                </a:lnTo>
                <a:lnTo>
                  <a:pt x="2943215" y="2558506"/>
                </a:lnTo>
                <a:lnTo>
                  <a:pt x="0" y="2558506"/>
                </a:lnTo>
                <a:lnTo>
                  <a:pt x="0" y="0"/>
                </a:lnTo>
                <a:close/>
              </a:path>
            </a:pathLst>
          </a:custGeom>
          <a:blipFill>
            <a:blip r:embed="rId2"/>
            <a:stretch>
              <a:fillRect l="0" t="0" r="0" b="0"/>
            </a:stretch>
          </a:blipFill>
        </p:spPr>
      </p:sp>
      <p:sp>
        <p:nvSpPr>
          <p:cNvPr name="Freeform 6" id="6"/>
          <p:cNvSpPr/>
          <p:nvPr/>
        </p:nvSpPr>
        <p:spPr>
          <a:xfrm flipH="false" flipV="false" rot="0">
            <a:off x="524272" y="3747259"/>
            <a:ext cx="1674672" cy="1557834"/>
          </a:xfrm>
          <a:custGeom>
            <a:avLst/>
            <a:gdLst/>
            <a:ahLst/>
            <a:cxnLst/>
            <a:rect r="r" b="b" t="t" l="l"/>
            <a:pathLst>
              <a:path h="1557834" w="1674672">
                <a:moveTo>
                  <a:pt x="0" y="0"/>
                </a:moveTo>
                <a:lnTo>
                  <a:pt x="1674671" y="0"/>
                </a:lnTo>
                <a:lnTo>
                  <a:pt x="1674671" y="1557834"/>
                </a:lnTo>
                <a:lnTo>
                  <a:pt x="0" y="1557834"/>
                </a:lnTo>
                <a:lnTo>
                  <a:pt x="0" y="0"/>
                </a:lnTo>
                <a:close/>
              </a:path>
            </a:pathLst>
          </a:custGeom>
          <a:blipFill>
            <a:blip r:embed="rId3"/>
            <a:stretch>
              <a:fillRect l="0" t="0" r="0" b="0"/>
            </a:stretch>
          </a:blipFill>
        </p:spPr>
      </p:sp>
      <p:sp>
        <p:nvSpPr>
          <p:cNvPr name="Freeform 7" id="7"/>
          <p:cNvSpPr/>
          <p:nvPr/>
        </p:nvSpPr>
        <p:spPr>
          <a:xfrm flipH="false" flipV="false" rot="0">
            <a:off x="2986651" y="3747259"/>
            <a:ext cx="1689216" cy="1557834"/>
          </a:xfrm>
          <a:custGeom>
            <a:avLst/>
            <a:gdLst/>
            <a:ahLst/>
            <a:cxnLst/>
            <a:rect r="r" b="b" t="t" l="l"/>
            <a:pathLst>
              <a:path h="1557834" w="1689216">
                <a:moveTo>
                  <a:pt x="0" y="0"/>
                </a:moveTo>
                <a:lnTo>
                  <a:pt x="1689216" y="0"/>
                </a:lnTo>
                <a:lnTo>
                  <a:pt x="1689216" y="1557834"/>
                </a:lnTo>
                <a:lnTo>
                  <a:pt x="0" y="1557834"/>
                </a:lnTo>
                <a:lnTo>
                  <a:pt x="0" y="0"/>
                </a:lnTo>
                <a:close/>
              </a:path>
            </a:pathLst>
          </a:custGeom>
          <a:blipFill>
            <a:blip r:embed="rId4"/>
            <a:stretch>
              <a:fillRect l="-2488" t="0" r="-2488" b="0"/>
            </a:stretch>
          </a:blipFill>
        </p:spPr>
      </p:sp>
      <p:sp>
        <p:nvSpPr>
          <p:cNvPr name="Freeform 8" id="8"/>
          <p:cNvSpPr/>
          <p:nvPr/>
        </p:nvSpPr>
        <p:spPr>
          <a:xfrm flipH="false" flipV="false" rot="0">
            <a:off x="524272" y="5510839"/>
            <a:ext cx="1674672" cy="1637488"/>
          </a:xfrm>
          <a:custGeom>
            <a:avLst/>
            <a:gdLst/>
            <a:ahLst/>
            <a:cxnLst/>
            <a:rect r="r" b="b" t="t" l="l"/>
            <a:pathLst>
              <a:path h="1637488" w="1674672">
                <a:moveTo>
                  <a:pt x="0" y="0"/>
                </a:moveTo>
                <a:lnTo>
                  <a:pt x="1674671" y="0"/>
                </a:lnTo>
                <a:lnTo>
                  <a:pt x="1674671" y="1637488"/>
                </a:lnTo>
                <a:lnTo>
                  <a:pt x="0" y="1637488"/>
                </a:lnTo>
                <a:lnTo>
                  <a:pt x="0" y="0"/>
                </a:lnTo>
                <a:close/>
              </a:path>
            </a:pathLst>
          </a:custGeom>
          <a:blipFill>
            <a:blip r:embed="rId5"/>
            <a:stretch>
              <a:fillRect l="0" t="0" r="-4257" b="0"/>
            </a:stretch>
          </a:blipFill>
        </p:spPr>
      </p:sp>
      <p:sp>
        <p:nvSpPr>
          <p:cNvPr name="Freeform 9" id="9"/>
          <p:cNvSpPr/>
          <p:nvPr/>
        </p:nvSpPr>
        <p:spPr>
          <a:xfrm flipH="false" flipV="false" rot="0">
            <a:off x="2729821" y="5510839"/>
            <a:ext cx="1946045" cy="1775672"/>
          </a:xfrm>
          <a:custGeom>
            <a:avLst/>
            <a:gdLst/>
            <a:ahLst/>
            <a:cxnLst/>
            <a:rect r="r" b="b" t="t" l="l"/>
            <a:pathLst>
              <a:path h="1775672" w="1946045">
                <a:moveTo>
                  <a:pt x="0" y="0"/>
                </a:moveTo>
                <a:lnTo>
                  <a:pt x="1946046" y="0"/>
                </a:lnTo>
                <a:lnTo>
                  <a:pt x="1946046" y="1775672"/>
                </a:lnTo>
                <a:lnTo>
                  <a:pt x="0" y="1775672"/>
                </a:lnTo>
                <a:lnTo>
                  <a:pt x="0" y="0"/>
                </a:lnTo>
                <a:close/>
              </a:path>
            </a:pathLst>
          </a:custGeom>
          <a:blipFill>
            <a:blip r:embed="rId6"/>
            <a:stretch>
              <a:fillRect l="0" t="0" r="0" b="0"/>
            </a:stretch>
          </a:blipFill>
        </p:spPr>
      </p:sp>
      <p:sp>
        <p:nvSpPr>
          <p:cNvPr name="Freeform 10" id="10"/>
          <p:cNvSpPr/>
          <p:nvPr/>
        </p:nvSpPr>
        <p:spPr>
          <a:xfrm flipH="false" flipV="false" rot="0">
            <a:off x="597876" y="7270705"/>
            <a:ext cx="1601068" cy="1405623"/>
          </a:xfrm>
          <a:custGeom>
            <a:avLst/>
            <a:gdLst/>
            <a:ahLst/>
            <a:cxnLst/>
            <a:rect r="r" b="b" t="t" l="l"/>
            <a:pathLst>
              <a:path h="1405623" w="1601068">
                <a:moveTo>
                  <a:pt x="0" y="0"/>
                </a:moveTo>
                <a:lnTo>
                  <a:pt x="1601067" y="0"/>
                </a:lnTo>
                <a:lnTo>
                  <a:pt x="1601067" y="1405623"/>
                </a:lnTo>
                <a:lnTo>
                  <a:pt x="0" y="1405623"/>
                </a:lnTo>
                <a:lnTo>
                  <a:pt x="0" y="0"/>
                </a:lnTo>
                <a:close/>
              </a:path>
            </a:pathLst>
          </a:custGeom>
          <a:blipFill>
            <a:blip r:embed="rId7"/>
            <a:stretch>
              <a:fillRect l="0" t="-2409" r="0" b="-2409"/>
            </a:stretch>
          </a:blipFill>
        </p:spPr>
      </p:sp>
      <p:sp>
        <p:nvSpPr>
          <p:cNvPr name="Freeform 11" id="11"/>
          <p:cNvSpPr/>
          <p:nvPr/>
        </p:nvSpPr>
        <p:spPr>
          <a:xfrm flipH="false" flipV="false" rot="0">
            <a:off x="2779724" y="7118291"/>
            <a:ext cx="1846240" cy="1710451"/>
          </a:xfrm>
          <a:custGeom>
            <a:avLst/>
            <a:gdLst/>
            <a:ahLst/>
            <a:cxnLst/>
            <a:rect r="r" b="b" t="t" l="l"/>
            <a:pathLst>
              <a:path h="1710451" w="1846240">
                <a:moveTo>
                  <a:pt x="0" y="0"/>
                </a:moveTo>
                <a:lnTo>
                  <a:pt x="1846240" y="0"/>
                </a:lnTo>
                <a:lnTo>
                  <a:pt x="1846240" y="1710451"/>
                </a:lnTo>
                <a:lnTo>
                  <a:pt x="0" y="1710451"/>
                </a:lnTo>
                <a:lnTo>
                  <a:pt x="0" y="0"/>
                </a:lnTo>
                <a:close/>
              </a:path>
            </a:pathLst>
          </a:custGeom>
          <a:blipFill>
            <a:blip r:embed="rId8"/>
            <a:stretch>
              <a:fillRect l="0" t="-511" r="0" b="-511"/>
            </a:stretch>
          </a:blipFill>
        </p:spPr>
      </p:sp>
      <p:sp>
        <p:nvSpPr>
          <p:cNvPr name="TextBox 12" id="12"/>
          <p:cNvSpPr txBox="true"/>
          <p:nvPr/>
        </p:nvSpPr>
        <p:spPr>
          <a:xfrm rot="0">
            <a:off x="276368" y="330382"/>
            <a:ext cx="13989115" cy="3416877"/>
          </a:xfrm>
          <a:prstGeom prst="rect">
            <a:avLst/>
          </a:prstGeom>
        </p:spPr>
        <p:txBody>
          <a:bodyPr anchor="t" rtlCol="false" tIns="0" lIns="0" bIns="0" rIns="0">
            <a:spAutoFit/>
          </a:bodyPr>
          <a:lstStyle/>
          <a:p>
            <a:pPr algn="ctr">
              <a:lnSpc>
                <a:spcPts val="2768"/>
              </a:lnSpc>
              <a:spcBef>
                <a:spcPct val="0"/>
              </a:spcBef>
            </a:pPr>
            <a:r>
              <a:rPr lang="en-US" b="true" sz="1977">
                <a:solidFill>
                  <a:srgbClr val="000000"/>
                </a:solidFill>
                <a:latin typeface="Canva Sans Bold"/>
                <a:ea typeface="Canva Sans Bold"/>
                <a:cs typeface="Canva Sans Bold"/>
                <a:sym typeface="Canva Sans Bold"/>
              </a:rPr>
              <a:t>SystolicBP</a:t>
            </a:r>
            <a:r>
              <a:rPr lang="en-US" sz="1977">
                <a:solidFill>
                  <a:srgbClr val="000000"/>
                </a:solidFill>
                <a:latin typeface="Canva Sans"/>
                <a:ea typeface="Canva Sans"/>
                <a:cs typeface="Canva Sans"/>
                <a:sym typeface="Canva Sans"/>
              </a:rPr>
              <a:t> and </a:t>
            </a:r>
            <a:r>
              <a:rPr lang="en-US" b="true" sz="1977">
                <a:solidFill>
                  <a:srgbClr val="000000"/>
                </a:solidFill>
                <a:latin typeface="Canva Sans Bold"/>
                <a:ea typeface="Canva Sans Bold"/>
                <a:cs typeface="Canva Sans Bold"/>
                <a:sym typeface="Canva Sans Bold"/>
              </a:rPr>
              <a:t>DiastolicBP </a:t>
            </a:r>
            <a:r>
              <a:rPr lang="en-US" sz="1977">
                <a:solidFill>
                  <a:srgbClr val="000000"/>
                </a:solidFill>
                <a:latin typeface="Canva Sans"/>
                <a:ea typeface="Canva Sans"/>
                <a:cs typeface="Canva Sans"/>
                <a:sym typeface="Canva Sans"/>
              </a:rPr>
              <a:t>are strongly correlated (0.78), meaning they increase or decrease together.</a:t>
            </a:r>
          </a:p>
          <a:p>
            <a:pPr algn="ctr">
              <a:lnSpc>
                <a:spcPts val="2768"/>
              </a:lnSpc>
              <a:spcBef>
                <a:spcPct val="0"/>
              </a:spcBef>
            </a:pPr>
          </a:p>
          <a:p>
            <a:pPr algn="ctr">
              <a:lnSpc>
                <a:spcPts val="2768"/>
              </a:lnSpc>
              <a:spcBef>
                <a:spcPct val="0"/>
              </a:spcBef>
            </a:pPr>
            <a:r>
              <a:rPr lang="en-US" b="true" sz="1977">
                <a:solidFill>
                  <a:srgbClr val="000000"/>
                </a:solidFill>
                <a:latin typeface="Canva Sans Bold"/>
                <a:ea typeface="Canva Sans Bold"/>
                <a:cs typeface="Canva Sans Bold"/>
                <a:sym typeface="Canva Sans Bold"/>
              </a:rPr>
              <a:t>Blood Sugar (BS)</a:t>
            </a:r>
            <a:r>
              <a:rPr lang="en-US" sz="1977">
                <a:solidFill>
                  <a:srgbClr val="000000"/>
                </a:solidFill>
                <a:latin typeface="Canva Sans"/>
                <a:ea typeface="Canva Sans"/>
                <a:cs typeface="Canva Sans"/>
                <a:sym typeface="Canva Sans"/>
              </a:rPr>
              <a:t> has moderate positive correlations with </a:t>
            </a:r>
            <a:r>
              <a:rPr lang="en-US" b="true" sz="1977">
                <a:solidFill>
                  <a:srgbClr val="000000"/>
                </a:solidFill>
                <a:latin typeface="Canva Sans Bold"/>
                <a:ea typeface="Canva Sans Bold"/>
                <a:cs typeface="Canva Sans Bold"/>
                <a:sym typeface="Canva Sans Bold"/>
              </a:rPr>
              <a:t>Age</a:t>
            </a:r>
            <a:r>
              <a:rPr lang="en-US" sz="1977">
                <a:solidFill>
                  <a:srgbClr val="000000"/>
                </a:solidFill>
                <a:latin typeface="Canva Sans"/>
                <a:ea typeface="Canva Sans"/>
                <a:cs typeface="Canva Sans"/>
                <a:sym typeface="Canva Sans"/>
              </a:rPr>
              <a:t>, </a:t>
            </a:r>
            <a:r>
              <a:rPr lang="en-US" b="true" sz="1977">
                <a:solidFill>
                  <a:srgbClr val="000000"/>
                </a:solidFill>
                <a:latin typeface="Canva Sans Bold"/>
                <a:ea typeface="Canva Sans Bold"/>
                <a:cs typeface="Canva Sans Bold"/>
                <a:sym typeface="Canva Sans Bold"/>
              </a:rPr>
              <a:t>SystolicBP</a:t>
            </a:r>
            <a:r>
              <a:rPr lang="en-US" sz="1977">
                <a:solidFill>
                  <a:srgbClr val="000000"/>
                </a:solidFill>
                <a:latin typeface="Canva Sans"/>
                <a:ea typeface="Canva Sans"/>
                <a:cs typeface="Canva Sans"/>
                <a:sym typeface="Canva Sans"/>
              </a:rPr>
              <a:t>, and </a:t>
            </a:r>
            <a:r>
              <a:rPr lang="en-US" b="true" sz="1977">
                <a:solidFill>
                  <a:srgbClr val="000000"/>
                </a:solidFill>
                <a:latin typeface="Canva Sans Bold"/>
                <a:ea typeface="Canva Sans Bold"/>
                <a:cs typeface="Canva Sans Bold"/>
                <a:sym typeface="Canva Sans Bold"/>
              </a:rPr>
              <a:t>DiastolicBP</a:t>
            </a:r>
            <a:r>
              <a:rPr lang="en-US" sz="1977">
                <a:solidFill>
                  <a:srgbClr val="000000"/>
                </a:solidFill>
                <a:latin typeface="Canva Sans"/>
                <a:ea typeface="Canva Sans"/>
                <a:cs typeface="Canva Sans"/>
                <a:sym typeface="Canva Sans"/>
              </a:rPr>
              <a:t>, suggesting these factors might rise together, potentially indicating health risks.</a:t>
            </a:r>
          </a:p>
          <a:p>
            <a:pPr algn="ctr">
              <a:lnSpc>
                <a:spcPts val="2768"/>
              </a:lnSpc>
              <a:spcBef>
                <a:spcPct val="0"/>
              </a:spcBef>
            </a:pPr>
          </a:p>
          <a:p>
            <a:pPr algn="ctr">
              <a:lnSpc>
                <a:spcPts val="2768"/>
              </a:lnSpc>
              <a:spcBef>
                <a:spcPct val="0"/>
              </a:spcBef>
            </a:pPr>
            <a:r>
              <a:rPr lang="en-US" b="true" sz="1977">
                <a:solidFill>
                  <a:srgbClr val="000000"/>
                </a:solidFill>
                <a:latin typeface="Canva Sans Bold"/>
                <a:ea typeface="Canva Sans Bold"/>
                <a:cs typeface="Canva Sans Bold"/>
                <a:sym typeface="Canva Sans Bold"/>
              </a:rPr>
              <a:t>Age</a:t>
            </a:r>
            <a:r>
              <a:rPr lang="en-US" sz="1977">
                <a:solidFill>
                  <a:srgbClr val="000000"/>
                </a:solidFill>
                <a:latin typeface="Canva Sans"/>
                <a:ea typeface="Canva Sans"/>
                <a:cs typeface="Canva Sans"/>
                <a:sym typeface="Canva Sans"/>
              </a:rPr>
              <a:t> and </a:t>
            </a:r>
            <a:r>
              <a:rPr lang="en-US" b="true" sz="1977">
                <a:solidFill>
                  <a:srgbClr val="000000"/>
                </a:solidFill>
                <a:latin typeface="Canva Sans Bold"/>
                <a:ea typeface="Canva Sans Bold"/>
                <a:cs typeface="Canva Sans Bold"/>
                <a:sym typeface="Canva Sans Bold"/>
              </a:rPr>
              <a:t>BodyTemp</a:t>
            </a:r>
            <a:r>
              <a:rPr lang="en-US" sz="1977">
                <a:solidFill>
                  <a:srgbClr val="000000"/>
                </a:solidFill>
                <a:latin typeface="Canva Sans"/>
                <a:ea typeface="Canva Sans"/>
                <a:cs typeface="Canva Sans"/>
                <a:sym typeface="Canva Sans"/>
              </a:rPr>
              <a:t> have a weak negative correlation (-0.27), hinting that body temperature slightly decreases with age.</a:t>
            </a:r>
          </a:p>
          <a:p>
            <a:pPr algn="ctr">
              <a:lnSpc>
                <a:spcPts val="2768"/>
              </a:lnSpc>
              <a:spcBef>
                <a:spcPct val="0"/>
              </a:spcBef>
            </a:pPr>
          </a:p>
          <a:p>
            <a:pPr algn="ctr">
              <a:lnSpc>
                <a:spcPts val="2768"/>
              </a:lnSpc>
              <a:spcBef>
                <a:spcPct val="0"/>
              </a:spcBef>
            </a:pPr>
            <a:r>
              <a:rPr lang="en-US" b="true" sz="1977">
                <a:solidFill>
                  <a:srgbClr val="000000"/>
                </a:solidFill>
                <a:latin typeface="Canva Sans Bold"/>
                <a:ea typeface="Canva Sans Bold"/>
                <a:cs typeface="Canva Sans Bold"/>
                <a:sym typeface="Canva Sans Bold"/>
              </a:rPr>
              <a:t>Heart Rate</a:t>
            </a:r>
            <a:r>
              <a:rPr lang="en-US" sz="1977">
                <a:solidFill>
                  <a:srgbClr val="000000"/>
                </a:solidFill>
                <a:latin typeface="Canva Sans"/>
                <a:ea typeface="Canva Sans"/>
                <a:cs typeface="Canva Sans"/>
                <a:sym typeface="Canva Sans"/>
              </a:rPr>
              <a:t> and Body </a:t>
            </a:r>
            <a:r>
              <a:rPr lang="en-US" b="true" sz="1977">
                <a:solidFill>
                  <a:srgbClr val="000000"/>
                </a:solidFill>
                <a:latin typeface="Canva Sans Bold"/>
                <a:ea typeface="Canva Sans Bold"/>
                <a:cs typeface="Canva Sans Bold"/>
                <a:sym typeface="Canva Sans Bold"/>
              </a:rPr>
              <a:t>Temperature</a:t>
            </a:r>
            <a:r>
              <a:rPr lang="en-US" sz="1977">
                <a:solidFill>
                  <a:srgbClr val="000000"/>
                </a:solidFill>
                <a:latin typeface="Canva Sans"/>
                <a:ea typeface="Canva Sans"/>
                <a:cs typeface="Canva Sans"/>
                <a:sym typeface="Canva Sans"/>
              </a:rPr>
              <a:t> show very weak correlations with most other features, indicating relative independence.</a:t>
            </a:r>
          </a:p>
        </p:txBody>
      </p:sp>
      <p:sp>
        <p:nvSpPr>
          <p:cNvPr name="TextBox 13" id="13"/>
          <p:cNvSpPr txBox="true"/>
          <p:nvPr/>
        </p:nvSpPr>
        <p:spPr>
          <a:xfrm rot="0">
            <a:off x="3819666" y="3813934"/>
            <a:ext cx="15447557" cy="326901"/>
          </a:xfrm>
          <a:prstGeom prst="rect">
            <a:avLst/>
          </a:prstGeom>
        </p:spPr>
        <p:txBody>
          <a:bodyPr anchor="t" rtlCol="false" tIns="0" lIns="0" bIns="0" rIns="0">
            <a:spAutoFit/>
          </a:bodyPr>
          <a:lstStyle/>
          <a:p>
            <a:pPr algn="ctr">
              <a:lnSpc>
                <a:spcPts val="2496"/>
              </a:lnSpc>
            </a:pPr>
            <a:r>
              <a:rPr lang="en-US" b="true" sz="2600" u="sng">
                <a:solidFill>
                  <a:srgbClr val="18253B"/>
                </a:solidFill>
                <a:latin typeface="Livvic Bold"/>
                <a:ea typeface="Livvic Bold"/>
                <a:cs typeface="Livvic Bold"/>
                <a:sym typeface="Livvic Bold"/>
              </a:rPr>
              <a:t>Outliers</a:t>
            </a:r>
          </a:p>
        </p:txBody>
      </p:sp>
      <p:sp>
        <p:nvSpPr>
          <p:cNvPr name="TextBox 14" id="14"/>
          <p:cNvSpPr txBox="true"/>
          <p:nvPr/>
        </p:nvSpPr>
        <p:spPr>
          <a:xfrm rot="0">
            <a:off x="5477255" y="4315128"/>
            <a:ext cx="11782045" cy="1071279"/>
          </a:xfrm>
          <a:prstGeom prst="rect">
            <a:avLst/>
          </a:prstGeom>
        </p:spPr>
        <p:txBody>
          <a:bodyPr anchor="t" rtlCol="false" tIns="0" lIns="0" bIns="0" rIns="0">
            <a:spAutoFit/>
          </a:bodyPr>
          <a:lstStyle/>
          <a:p>
            <a:pPr algn="ctr">
              <a:lnSpc>
                <a:spcPts val="2903"/>
              </a:lnSpc>
              <a:spcBef>
                <a:spcPct val="0"/>
              </a:spcBef>
            </a:pPr>
            <a:r>
              <a:rPr lang="en-US" sz="2073">
                <a:solidFill>
                  <a:srgbClr val="000000"/>
                </a:solidFill>
                <a:latin typeface="Canva Sans"/>
                <a:ea typeface="Canva Sans"/>
                <a:cs typeface="Canva Sans"/>
                <a:sym typeface="Canva Sans"/>
              </a:rPr>
              <a:t>In the </a:t>
            </a:r>
            <a:r>
              <a:rPr lang="en-US" b="true" sz="2073">
                <a:solidFill>
                  <a:srgbClr val="000000"/>
                </a:solidFill>
                <a:latin typeface="Canva Sans Bold"/>
                <a:ea typeface="Canva Sans Bold"/>
                <a:cs typeface="Canva Sans Bold"/>
                <a:sym typeface="Canva Sans Bold"/>
              </a:rPr>
              <a:t>Age plot</a:t>
            </a:r>
            <a:r>
              <a:rPr lang="en-US" sz="2073">
                <a:solidFill>
                  <a:srgbClr val="000000"/>
                </a:solidFill>
                <a:latin typeface="Canva Sans"/>
                <a:ea typeface="Canva Sans"/>
                <a:cs typeface="Canva Sans"/>
                <a:sym typeface="Canva Sans"/>
              </a:rPr>
              <a:t>, there are no outliers as all data points fall within the whiskers. In the        </a:t>
            </a:r>
            <a:r>
              <a:rPr lang="en-US" b="true" sz="2073">
                <a:solidFill>
                  <a:srgbClr val="000000"/>
                </a:solidFill>
                <a:latin typeface="Canva Sans Bold"/>
                <a:ea typeface="Canva Sans Bold"/>
                <a:cs typeface="Canva Sans Bold"/>
                <a:sym typeface="Canva Sans Bold"/>
              </a:rPr>
              <a:t>SystolicBP plot</a:t>
            </a:r>
            <a:r>
              <a:rPr lang="en-US" sz="2073">
                <a:solidFill>
                  <a:srgbClr val="000000"/>
                </a:solidFill>
                <a:latin typeface="Canva Sans"/>
                <a:ea typeface="Canva Sans"/>
                <a:cs typeface="Canva Sans"/>
                <a:sym typeface="Canva Sans"/>
              </a:rPr>
              <a:t>, there is one outlier at around 160, indicating a value significantly higher than the rest of the data.</a:t>
            </a:r>
          </a:p>
        </p:txBody>
      </p:sp>
      <p:sp>
        <p:nvSpPr>
          <p:cNvPr name="TextBox 15" id="15"/>
          <p:cNvSpPr txBox="true"/>
          <p:nvPr/>
        </p:nvSpPr>
        <p:spPr>
          <a:xfrm rot="0">
            <a:off x="5827589" y="5699300"/>
            <a:ext cx="11431711" cy="1423797"/>
          </a:xfrm>
          <a:prstGeom prst="rect">
            <a:avLst/>
          </a:prstGeom>
        </p:spPr>
        <p:txBody>
          <a:bodyPr anchor="t" rtlCol="false" tIns="0" lIns="0" bIns="0" rIns="0">
            <a:spAutoFit/>
          </a:bodyPr>
          <a:lstStyle/>
          <a:p>
            <a:pPr algn="ctr">
              <a:lnSpc>
                <a:spcPts val="2898"/>
              </a:lnSpc>
              <a:spcBef>
                <a:spcPct val="0"/>
              </a:spcBef>
            </a:pPr>
            <a:r>
              <a:rPr lang="en-US" sz="2070">
                <a:solidFill>
                  <a:srgbClr val="000000"/>
                </a:solidFill>
                <a:latin typeface="Canva Sans"/>
                <a:ea typeface="Canva Sans"/>
                <a:cs typeface="Canva Sans"/>
                <a:sym typeface="Canva Sans"/>
              </a:rPr>
              <a:t>the </a:t>
            </a:r>
            <a:r>
              <a:rPr lang="en-US" b="true" sz="2070">
                <a:solidFill>
                  <a:srgbClr val="000000"/>
                </a:solidFill>
                <a:latin typeface="Canva Sans Bold"/>
                <a:ea typeface="Canva Sans Bold"/>
                <a:cs typeface="Canva Sans Bold"/>
                <a:sym typeface="Canva Sans Bold"/>
              </a:rPr>
              <a:t>DiastolicBP plot </a:t>
            </a:r>
            <a:r>
              <a:rPr lang="en-US" sz="2070">
                <a:solidFill>
                  <a:srgbClr val="000000"/>
                </a:solidFill>
                <a:latin typeface="Canva Sans"/>
                <a:ea typeface="Canva Sans"/>
                <a:cs typeface="Canva Sans"/>
                <a:sym typeface="Canva Sans"/>
              </a:rPr>
              <a:t>shows no outliers, as all values fall within the whiskers. However, in the </a:t>
            </a:r>
            <a:r>
              <a:rPr lang="en-US" b="true" sz="2070">
                <a:solidFill>
                  <a:srgbClr val="000000"/>
                </a:solidFill>
                <a:latin typeface="Canva Sans Bold"/>
                <a:ea typeface="Canva Sans Bold"/>
                <a:cs typeface="Canva Sans Bold"/>
                <a:sym typeface="Canva Sans Bold"/>
              </a:rPr>
              <a:t>BS (Blood Sugar) plot</a:t>
            </a:r>
            <a:r>
              <a:rPr lang="en-US" sz="2070">
                <a:solidFill>
                  <a:srgbClr val="000000"/>
                </a:solidFill>
                <a:latin typeface="Canva Sans"/>
                <a:ea typeface="Canva Sans"/>
                <a:cs typeface="Canva Sans"/>
                <a:sym typeface="Canva Sans"/>
              </a:rPr>
              <a:t>, there are multiple outliers extending beyond the upper whisker, indicating several high blood sugar values that deviate significantly from the main data distribution.</a:t>
            </a:r>
          </a:p>
        </p:txBody>
      </p:sp>
      <p:sp>
        <p:nvSpPr>
          <p:cNvPr name="TextBox 16" id="16"/>
          <p:cNvSpPr txBox="true"/>
          <p:nvPr/>
        </p:nvSpPr>
        <p:spPr>
          <a:xfrm rot="0">
            <a:off x="5827589" y="7186180"/>
            <a:ext cx="11431711" cy="1657137"/>
          </a:xfrm>
          <a:prstGeom prst="rect">
            <a:avLst/>
          </a:prstGeom>
        </p:spPr>
        <p:txBody>
          <a:bodyPr anchor="t" rtlCol="false" tIns="0" lIns="0" bIns="0" rIns="0">
            <a:spAutoFit/>
          </a:bodyPr>
          <a:lstStyle/>
          <a:p>
            <a:pPr algn="ctr">
              <a:lnSpc>
                <a:spcPts val="2636"/>
              </a:lnSpc>
              <a:spcBef>
                <a:spcPct val="0"/>
              </a:spcBef>
            </a:pPr>
            <a:r>
              <a:rPr lang="en-US" sz="1883">
                <a:solidFill>
                  <a:srgbClr val="000000"/>
                </a:solidFill>
                <a:latin typeface="Canva Sans"/>
                <a:ea typeface="Canva Sans"/>
                <a:cs typeface="Canva Sans"/>
                <a:sym typeface="Canva Sans"/>
              </a:rPr>
              <a:t>In the </a:t>
            </a:r>
            <a:r>
              <a:rPr lang="en-US" b="true" sz="1883">
                <a:solidFill>
                  <a:srgbClr val="000000"/>
                </a:solidFill>
                <a:latin typeface="Canva Sans Bold"/>
                <a:ea typeface="Canva Sans Bold"/>
                <a:cs typeface="Canva Sans Bold"/>
                <a:sym typeface="Canva Sans Bold"/>
              </a:rPr>
              <a:t>"Box Plot of BodyTemp,"</a:t>
            </a:r>
            <a:r>
              <a:rPr lang="en-US" sz="1883">
                <a:solidFill>
                  <a:srgbClr val="000000"/>
                </a:solidFill>
                <a:latin typeface="Canva Sans"/>
                <a:ea typeface="Canva Sans"/>
                <a:cs typeface="Canva Sans"/>
                <a:sym typeface="Canva Sans"/>
              </a:rPr>
              <a:t> there are several outliers around the 98°F mark, indicating individuals with body temperatures below the interquartile range.</a:t>
            </a:r>
          </a:p>
          <a:p>
            <a:pPr algn="ctr">
              <a:lnSpc>
                <a:spcPts val="2636"/>
              </a:lnSpc>
              <a:spcBef>
                <a:spcPct val="0"/>
              </a:spcBef>
            </a:pPr>
            <a:r>
              <a:rPr lang="en-US" sz="1883">
                <a:solidFill>
                  <a:srgbClr val="000000"/>
                </a:solidFill>
                <a:latin typeface="Canva Sans"/>
                <a:ea typeface="Canva Sans"/>
                <a:cs typeface="Canva Sans"/>
                <a:sym typeface="Canva Sans"/>
              </a:rPr>
              <a:t>In the </a:t>
            </a:r>
            <a:r>
              <a:rPr lang="en-US" b="true" sz="1883">
                <a:solidFill>
                  <a:srgbClr val="000000"/>
                </a:solidFill>
                <a:latin typeface="Canva Sans Bold"/>
                <a:ea typeface="Canva Sans Bold"/>
                <a:cs typeface="Canva Sans Bold"/>
                <a:sym typeface="Canva Sans Bold"/>
              </a:rPr>
              <a:t>"Box Plot of HeartRate,"</a:t>
            </a:r>
            <a:r>
              <a:rPr lang="en-US" sz="1883">
                <a:solidFill>
                  <a:srgbClr val="000000"/>
                </a:solidFill>
                <a:latin typeface="Canva Sans"/>
                <a:ea typeface="Canva Sans"/>
                <a:cs typeface="Canva Sans"/>
                <a:sym typeface="Canva Sans"/>
              </a:rPr>
              <a:t> one outlier is seen at a low heart rate (around 20 bpm), which lies outside the range of the central distribution. This may represent an anomalous or exceptionally low heart rate value.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759" y="8953690"/>
            <a:ext cx="18461759" cy="1321651"/>
            <a:chOff x="0" y="0"/>
            <a:chExt cx="4862356" cy="348089"/>
          </a:xfrm>
        </p:grpSpPr>
        <p:sp>
          <p:nvSpPr>
            <p:cNvPr name="Freeform 3" id="3"/>
            <p:cNvSpPr/>
            <p:nvPr/>
          </p:nvSpPr>
          <p:spPr>
            <a:xfrm flipH="false" flipV="false" rot="0">
              <a:off x="0" y="0"/>
              <a:ext cx="4862356" cy="348089"/>
            </a:xfrm>
            <a:custGeom>
              <a:avLst/>
              <a:gdLst/>
              <a:ahLst/>
              <a:cxnLst/>
              <a:rect r="r" b="b" t="t" l="l"/>
              <a:pathLst>
                <a:path h="348089" w="4862356">
                  <a:moveTo>
                    <a:pt x="0" y="0"/>
                  </a:moveTo>
                  <a:lnTo>
                    <a:pt x="4862356" y="0"/>
                  </a:lnTo>
                  <a:lnTo>
                    <a:pt x="4862356" y="348089"/>
                  </a:lnTo>
                  <a:lnTo>
                    <a:pt x="0" y="348089"/>
                  </a:lnTo>
                  <a:close/>
                </a:path>
              </a:pathLst>
            </a:custGeom>
            <a:solidFill>
              <a:srgbClr val="5DB3BB"/>
            </a:solidFill>
          </p:spPr>
        </p:sp>
        <p:sp>
          <p:nvSpPr>
            <p:cNvPr name="TextBox 4" id="4"/>
            <p:cNvSpPr txBox="true"/>
            <p:nvPr/>
          </p:nvSpPr>
          <p:spPr>
            <a:xfrm>
              <a:off x="0" y="-38100"/>
              <a:ext cx="4862356" cy="38618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35911" y="663455"/>
            <a:ext cx="4286025" cy="365245"/>
            <a:chOff x="0" y="0"/>
            <a:chExt cx="5714699" cy="486993"/>
          </a:xfrm>
        </p:grpSpPr>
        <p:grpSp>
          <p:nvGrpSpPr>
            <p:cNvPr name="Group 6" id="6"/>
            <p:cNvGrpSpPr/>
            <p:nvPr/>
          </p:nvGrpSpPr>
          <p:grpSpPr>
            <a:xfrm rot="0">
              <a:off x="0" y="0"/>
              <a:ext cx="5714699" cy="486993"/>
              <a:chOff x="0" y="0"/>
              <a:chExt cx="28902051" cy="2539111"/>
            </a:xfrm>
          </p:grpSpPr>
          <p:sp>
            <p:nvSpPr>
              <p:cNvPr name="Freeform 7" id="7"/>
              <p:cNvSpPr/>
              <p:nvPr/>
            </p:nvSpPr>
            <p:spPr>
              <a:xfrm flipH="false" flipV="false" rot="0">
                <a:off x="178" y="165"/>
                <a:ext cx="28901901" cy="2539185"/>
              </a:xfrm>
              <a:custGeom>
                <a:avLst/>
                <a:gdLst/>
                <a:ahLst/>
                <a:cxnLst/>
                <a:rect r="r" b="b" t="t" l="l"/>
                <a:pathLst>
                  <a:path h="2539185" w="28901901">
                    <a:moveTo>
                      <a:pt x="28892474" y="1272375"/>
                    </a:moveTo>
                    <a:cubicBezTo>
                      <a:pt x="28877997" y="1345019"/>
                      <a:pt x="28850439" y="1457922"/>
                      <a:pt x="28806244" y="1561808"/>
                    </a:cubicBezTo>
                    <a:cubicBezTo>
                      <a:pt x="28773604" y="1638389"/>
                      <a:pt x="28728518" y="1709763"/>
                      <a:pt x="28682924" y="1779232"/>
                    </a:cubicBezTo>
                    <a:cubicBezTo>
                      <a:pt x="28583612" y="1930743"/>
                      <a:pt x="28475662" y="2091779"/>
                      <a:pt x="28330372" y="2202904"/>
                    </a:cubicBezTo>
                    <a:cubicBezTo>
                      <a:pt x="28146857" y="2343112"/>
                      <a:pt x="27917622" y="2410549"/>
                      <a:pt x="27692197" y="2444585"/>
                    </a:cubicBezTo>
                    <a:cubicBezTo>
                      <a:pt x="27430833" y="2484082"/>
                      <a:pt x="27166164" y="2481161"/>
                      <a:pt x="26902512" y="2487130"/>
                    </a:cubicBezTo>
                    <a:cubicBezTo>
                      <a:pt x="26632001" y="2493353"/>
                      <a:pt x="26361872" y="2509228"/>
                      <a:pt x="26091746" y="2523833"/>
                    </a:cubicBezTo>
                    <a:cubicBezTo>
                      <a:pt x="2562555" y="2552789"/>
                      <a:pt x="1805381" y="2543391"/>
                      <a:pt x="1272743" y="2473160"/>
                    </a:cubicBezTo>
                    <a:cubicBezTo>
                      <a:pt x="821766" y="2413724"/>
                      <a:pt x="567766" y="2303361"/>
                      <a:pt x="266903" y="1941538"/>
                    </a:cubicBezTo>
                    <a:cubicBezTo>
                      <a:pt x="131394" y="1778597"/>
                      <a:pt x="34874" y="1582128"/>
                      <a:pt x="8966" y="1370546"/>
                    </a:cubicBezTo>
                    <a:cubicBezTo>
                      <a:pt x="-19736" y="1272375"/>
                      <a:pt x="20015" y="1073620"/>
                      <a:pt x="134823" y="872071"/>
                    </a:cubicBezTo>
                    <a:cubicBezTo>
                      <a:pt x="252552" y="665188"/>
                      <a:pt x="343611" y="502882"/>
                      <a:pt x="541858" y="367373"/>
                    </a:cubicBezTo>
                    <a:cubicBezTo>
                      <a:pt x="743661" y="229324"/>
                      <a:pt x="1074369" y="208115"/>
                      <a:pt x="1309573" y="147917"/>
                    </a:cubicBezTo>
                    <a:cubicBezTo>
                      <a:pt x="1373962" y="131407"/>
                      <a:pt x="1438859" y="116802"/>
                      <a:pt x="1504010" y="103721"/>
                    </a:cubicBezTo>
                    <a:cubicBezTo>
                      <a:pt x="1569034" y="90767"/>
                      <a:pt x="1753057" y="47968"/>
                      <a:pt x="1819224" y="43523"/>
                    </a:cubicBezTo>
                    <a:cubicBezTo>
                      <a:pt x="2115007" y="23711"/>
                      <a:pt x="2041347" y="39967"/>
                      <a:pt x="2169998" y="25362"/>
                    </a:cubicBezTo>
                    <a:cubicBezTo>
                      <a:pt x="2436317" y="-5118"/>
                      <a:pt x="2685999" y="8344"/>
                      <a:pt x="14906583" y="978"/>
                    </a:cubicBezTo>
                    <a:cubicBezTo>
                      <a:pt x="26224079" y="-6642"/>
                      <a:pt x="26549578" y="32982"/>
                      <a:pt x="26825425" y="25362"/>
                    </a:cubicBezTo>
                    <a:cubicBezTo>
                      <a:pt x="27089074" y="18123"/>
                      <a:pt x="27433881" y="36030"/>
                      <a:pt x="27696516" y="66129"/>
                    </a:cubicBezTo>
                    <a:cubicBezTo>
                      <a:pt x="28131618" y="115786"/>
                      <a:pt x="28378632" y="154521"/>
                      <a:pt x="28629712" y="533616"/>
                    </a:cubicBezTo>
                    <a:cubicBezTo>
                      <a:pt x="28693720" y="631660"/>
                      <a:pt x="28750997" y="734022"/>
                      <a:pt x="28796719" y="841972"/>
                    </a:cubicBezTo>
                    <a:cubicBezTo>
                      <a:pt x="28882949" y="1046315"/>
                      <a:pt x="28921176" y="1267295"/>
                      <a:pt x="28892474" y="1272375"/>
                    </a:cubicBezTo>
                    <a:close/>
                  </a:path>
                </a:pathLst>
              </a:custGeom>
              <a:solidFill>
                <a:srgbClr val="512F1C"/>
              </a:solidFill>
            </p:spPr>
          </p:sp>
        </p:grpSp>
        <p:sp>
          <p:nvSpPr>
            <p:cNvPr name="TextBox 8" id="8"/>
            <p:cNvSpPr txBox="true"/>
            <p:nvPr/>
          </p:nvSpPr>
          <p:spPr>
            <a:xfrm rot="0">
              <a:off x="408958" y="94292"/>
              <a:ext cx="4985285" cy="496515"/>
            </a:xfrm>
            <a:prstGeom prst="rect">
              <a:avLst/>
            </a:prstGeom>
          </p:spPr>
          <p:txBody>
            <a:bodyPr anchor="t" rtlCol="false" tIns="0" lIns="0" bIns="0" rIns="0">
              <a:spAutoFit/>
            </a:bodyPr>
            <a:lstStyle/>
            <a:p>
              <a:pPr algn="l" marL="0" indent="0" lvl="0">
                <a:lnSpc>
                  <a:spcPts val="2641"/>
                </a:lnSpc>
                <a:spcBef>
                  <a:spcPct val="0"/>
                </a:spcBef>
              </a:pPr>
              <a:r>
                <a:rPr lang="en-US" sz="2201">
                  <a:solidFill>
                    <a:srgbClr val="FFF5E8"/>
                  </a:solidFill>
                  <a:latin typeface="Tropikal"/>
                  <a:ea typeface="Tropikal"/>
                  <a:cs typeface="Tropikal"/>
                  <a:sym typeface="Tropikal"/>
                </a:rPr>
                <a:t>ENSEMBLE OF DECISION TREES</a:t>
              </a:r>
            </a:p>
          </p:txBody>
        </p:sp>
      </p:grpSp>
      <p:grpSp>
        <p:nvGrpSpPr>
          <p:cNvPr name="Group 9" id="9"/>
          <p:cNvGrpSpPr/>
          <p:nvPr/>
        </p:nvGrpSpPr>
        <p:grpSpPr>
          <a:xfrm rot="0">
            <a:off x="7749759" y="635583"/>
            <a:ext cx="2788483" cy="365245"/>
            <a:chOff x="0" y="0"/>
            <a:chExt cx="3717977" cy="486993"/>
          </a:xfrm>
        </p:grpSpPr>
        <p:grpSp>
          <p:nvGrpSpPr>
            <p:cNvPr name="Group 10" id="10"/>
            <p:cNvGrpSpPr/>
            <p:nvPr/>
          </p:nvGrpSpPr>
          <p:grpSpPr>
            <a:xfrm rot="0">
              <a:off x="0" y="0"/>
              <a:ext cx="3717977" cy="486993"/>
              <a:chOff x="0" y="0"/>
              <a:chExt cx="18803641" cy="2539111"/>
            </a:xfrm>
          </p:grpSpPr>
          <p:sp>
            <p:nvSpPr>
              <p:cNvPr name="Freeform 11" id="11"/>
              <p:cNvSpPr/>
              <p:nvPr/>
            </p:nvSpPr>
            <p:spPr>
              <a:xfrm flipH="false" flipV="false" rot="0">
                <a:off x="178" y="165"/>
                <a:ext cx="18803492" cy="2539185"/>
              </a:xfrm>
              <a:custGeom>
                <a:avLst/>
                <a:gdLst/>
                <a:ahLst/>
                <a:cxnLst/>
                <a:rect r="r" b="b" t="t" l="l"/>
                <a:pathLst>
                  <a:path h="2539185" w="18803492">
                    <a:moveTo>
                      <a:pt x="18794066" y="1272375"/>
                    </a:moveTo>
                    <a:cubicBezTo>
                      <a:pt x="18779587" y="1345019"/>
                      <a:pt x="18752028" y="1457922"/>
                      <a:pt x="18707832" y="1561808"/>
                    </a:cubicBezTo>
                    <a:cubicBezTo>
                      <a:pt x="18675194" y="1638389"/>
                      <a:pt x="18630108" y="1709763"/>
                      <a:pt x="18584516" y="1779232"/>
                    </a:cubicBezTo>
                    <a:cubicBezTo>
                      <a:pt x="18485201" y="1930743"/>
                      <a:pt x="18377251" y="2091779"/>
                      <a:pt x="18231963" y="2202904"/>
                    </a:cubicBezTo>
                    <a:cubicBezTo>
                      <a:pt x="18048447" y="2343112"/>
                      <a:pt x="17819213" y="2410549"/>
                      <a:pt x="17593788" y="2444585"/>
                    </a:cubicBezTo>
                    <a:cubicBezTo>
                      <a:pt x="17332423" y="2484082"/>
                      <a:pt x="17067754" y="2481161"/>
                      <a:pt x="16804102" y="2487130"/>
                    </a:cubicBezTo>
                    <a:cubicBezTo>
                      <a:pt x="16533593" y="2493353"/>
                      <a:pt x="16263463" y="2509228"/>
                      <a:pt x="15993334" y="2523833"/>
                    </a:cubicBezTo>
                    <a:cubicBezTo>
                      <a:pt x="2562555" y="2552789"/>
                      <a:pt x="1805381" y="2543391"/>
                      <a:pt x="1272743" y="2473160"/>
                    </a:cubicBezTo>
                    <a:cubicBezTo>
                      <a:pt x="821766" y="2413724"/>
                      <a:pt x="567766" y="2303361"/>
                      <a:pt x="266903" y="1941538"/>
                    </a:cubicBezTo>
                    <a:cubicBezTo>
                      <a:pt x="131394" y="1778597"/>
                      <a:pt x="34874" y="1582128"/>
                      <a:pt x="8966" y="1370546"/>
                    </a:cubicBezTo>
                    <a:cubicBezTo>
                      <a:pt x="-19736" y="1272375"/>
                      <a:pt x="20015" y="1073620"/>
                      <a:pt x="134823" y="872071"/>
                    </a:cubicBezTo>
                    <a:cubicBezTo>
                      <a:pt x="252552" y="665188"/>
                      <a:pt x="343611" y="502882"/>
                      <a:pt x="541858" y="367373"/>
                    </a:cubicBezTo>
                    <a:cubicBezTo>
                      <a:pt x="743661" y="229324"/>
                      <a:pt x="1074369" y="208115"/>
                      <a:pt x="1309573" y="147917"/>
                    </a:cubicBezTo>
                    <a:cubicBezTo>
                      <a:pt x="1373962" y="131407"/>
                      <a:pt x="1438859" y="116802"/>
                      <a:pt x="1504010" y="103721"/>
                    </a:cubicBezTo>
                    <a:cubicBezTo>
                      <a:pt x="1569034" y="90767"/>
                      <a:pt x="1753057" y="47968"/>
                      <a:pt x="1819224" y="43523"/>
                    </a:cubicBezTo>
                    <a:cubicBezTo>
                      <a:pt x="2115007" y="23711"/>
                      <a:pt x="2041347" y="39967"/>
                      <a:pt x="2169998" y="25362"/>
                    </a:cubicBezTo>
                    <a:cubicBezTo>
                      <a:pt x="2436317" y="-5118"/>
                      <a:pt x="2685999" y="8344"/>
                      <a:pt x="9657264" y="978"/>
                    </a:cubicBezTo>
                    <a:cubicBezTo>
                      <a:pt x="16125669" y="-6642"/>
                      <a:pt x="16451170" y="32982"/>
                      <a:pt x="16727013" y="25362"/>
                    </a:cubicBezTo>
                    <a:cubicBezTo>
                      <a:pt x="16990666" y="18123"/>
                      <a:pt x="17335471" y="36030"/>
                      <a:pt x="17598106" y="66129"/>
                    </a:cubicBezTo>
                    <a:cubicBezTo>
                      <a:pt x="18033208" y="115786"/>
                      <a:pt x="18280222" y="154521"/>
                      <a:pt x="18531302" y="533616"/>
                    </a:cubicBezTo>
                    <a:cubicBezTo>
                      <a:pt x="18595310" y="631660"/>
                      <a:pt x="18652587" y="734022"/>
                      <a:pt x="18698307" y="841972"/>
                    </a:cubicBezTo>
                    <a:cubicBezTo>
                      <a:pt x="18784541" y="1046315"/>
                      <a:pt x="18822768" y="1267295"/>
                      <a:pt x="18794066" y="1272375"/>
                    </a:cubicBezTo>
                    <a:close/>
                  </a:path>
                </a:pathLst>
              </a:custGeom>
              <a:solidFill>
                <a:srgbClr val="512F1C"/>
              </a:solidFill>
            </p:spPr>
          </p:sp>
        </p:grpSp>
        <p:sp>
          <p:nvSpPr>
            <p:cNvPr name="TextBox 12" id="12"/>
            <p:cNvSpPr txBox="true"/>
            <p:nvPr/>
          </p:nvSpPr>
          <p:spPr>
            <a:xfrm rot="0">
              <a:off x="266067" y="94292"/>
              <a:ext cx="3243421" cy="496515"/>
            </a:xfrm>
            <a:prstGeom prst="rect">
              <a:avLst/>
            </a:prstGeom>
          </p:spPr>
          <p:txBody>
            <a:bodyPr anchor="t" rtlCol="false" tIns="0" lIns="0" bIns="0" rIns="0">
              <a:spAutoFit/>
            </a:bodyPr>
            <a:lstStyle/>
            <a:p>
              <a:pPr algn="l" marL="0" indent="0" lvl="0">
                <a:lnSpc>
                  <a:spcPts val="2641"/>
                </a:lnSpc>
                <a:spcBef>
                  <a:spcPct val="0"/>
                </a:spcBef>
              </a:pPr>
              <a:r>
                <a:rPr lang="en-US" sz="2201">
                  <a:solidFill>
                    <a:srgbClr val="FFF5E8"/>
                  </a:solidFill>
                  <a:latin typeface="Tropikal"/>
                  <a:ea typeface="Tropikal"/>
                  <a:cs typeface="Tropikal"/>
                  <a:sym typeface="Tropikal"/>
                </a:rPr>
                <a:t>VOTING MECHANISM</a:t>
              </a:r>
            </a:p>
          </p:txBody>
        </p:sp>
      </p:grpSp>
      <p:grpSp>
        <p:nvGrpSpPr>
          <p:cNvPr name="Group 13" id="13"/>
          <p:cNvGrpSpPr/>
          <p:nvPr/>
        </p:nvGrpSpPr>
        <p:grpSpPr>
          <a:xfrm rot="0">
            <a:off x="13096752" y="663455"/>
            <a:ext cx="4384838" cy="365245"/>
            <a:chOff x="0" y="0"/>
            <a:chExt cx="5846451" cy="486993"/>
          </a:xfrm>
        </p:grpSpPr>
        <p:grpSp>
          <p:nvGrpSpPr>
            <p:cNvPr name="Group 14" id="14"/>
            <p:cNvGrpSpPr/>
            <p:nvPr/>
          </p:nvGrpSpPr>
          <p:grpSpPr>
            <a:xfrm rot="0">
              <a:off x="0" y="0"/>
              <a:ext cx="5846451" cy="486993"/>
              <a:chOff x="0" y="0"/>
              <a:chExt cx="29568385" cy="2539111"/>
            </a:xfrm>
          </p:grpSpPr>
          <p:sp>
            <p:nvSpPr>
              <p:cNvPr name="Freeform 15" id="15"/>
              <p:cNvSpPr/>
              <p:nvPr/>
            </p:nvSpPr>
            <p:spPr>
              <a:xfrm flipH="false" flipV="false" rot="0">
                <a:off x="178" y="165"/>
                <a:ext cx="29568235" cy="2539185"/>
              </a:xfrm>
              <a:custGeom>
                <a:avLst/>
                <a:gdLst/>
                <a:ahLst/>
                <a:cxnLst/>
                <a:rect r="r" b="b" t="t" l="l"/>
                <a:pathLst>
                  <a:path h="2539185" w="29568235">
                    <a:moveTo>
                      <a:pt x="29558808" y="1272375"/>
                    </a:moveTo>
                    <a:cubicBezTo>
                      <a:pt x="29544332" y="1345019"/>
                      <a:pt x="29516774" y="1457922"/>
                      <a:pt x="29472575" y="1561808"/>
                    </a:cubicBezTo>
                    <a:cubicBezTo>
                      <a:pt x="29439938" y="1638389"/>
                      <a:pt x="29394853" y="1709763"/>
                      <a:pt x="29349258" y="1779232"/>
                    </a:cubicBezTo>
                    <a:cubicBezTo>
                      <a:pt x="29249947" y="1930743"/>
                      <a:pt x="29141997" y="2091779"/>
                      <a:pt x="28996706" y="2202904"/>
                    </a:cubicBezTo>
                    <a:cubicBezTo>
                      <a:pt x="28813192" y="2343112"/>
                      <a:pt x="28583956" y="2410549"/>
                      <a:pt x="28358531" y="2444585"/>
                    </a:cubicBezTo>
                    <a:cubicBezTo>
                      <a:pt x="28097167" y="2484082"/>
                      <a:pt x="27832498" y="2481161"/>
                      <a:pt x="27568846" y="2487130"/>
                    </a:cubicBezTo>
                    <a:cubicBezTo>
                      <a:pt x="27298336" y="2493353"/>
                      <a:pt x="27028206" y="2509228"/>
                      <a:pt x="26758077" y="2523833"/>
                    </a:cubicBezTo>
                    <a:cubicBezTo>
                      <a:pt x="2562555" y="2552789"/>
                      <a:pt x="1805381" y="2543391"/>
                      <a:pt x="1272743" y="2473160"/>
                    </a:cubicBezTo>
                    <a:cubicBezTo>
                      <a:pt x="821766" y="2413724"/>
                      <a:pt x="567766" y="2303361"/>
                      <a:pt x="266903" y="1941538"/>
                    </a:cubicBezTo>
                    <a:cubicBezTo>
                      <a:pt x="131394" y="1778597"/>
                      <a:pt x="34874" y="1582128"/>
                      <a:pt x="8966" y="1370546"/>
                    </a:cubicBezTo>
                    <a:cubicBezTo>
                      <a:pt x="-19736" y="1272375"/>
                      <a:pt x="20015" y="1073620"/>
                      <a:pt x="134823" y="872071"/>
                    </a:cubicBezTo>
                    <a:cubicBezTo>
                      <a:pt x="252552" y="665188"/>
                      <a:pt x="343611" y="502882"/>
                      <a:pt x="541858" y="367373"/>
                    </a:cubicBezTo>
                    <a:cubicBezTo>
                      <a:pt x="743661" y="229324"/>
                      <a:pt x="1074369" y="208115"/>
                      <a:pt x="1309573" y="147917"/>
                    </a:cubicBezTo>
                    <a:cubicBezTo>
                      <a:pt x="1373962" y="131407"/>
                      <a:pt x="1438859" y="116802"/>
                      <a:pt x="1504010" y="103721"/>
                    </a:cubicBezTo>
                    <a:cubicBezTo>
                      <a:pt x="1569034" y="90767"/>
                      <a:pt x="1753057" y="47968"/>
                      <a:pt x="1819224" y="43523"/>
                    </a:cubicBezTo>
                    <a:cubicBezTo>
                      <a:pt x="2115007" y="23711"/>
                      <a:pt x="2041347" y="39967"/>
                      <a:pt x="2169998" y="25362"/>
                    </a:cubicBezTo>
                    <a:cubicBezTo>
                      <a:pt x="2436317" y="-5118"/>
                      <a:pt x="2685999" y="8344"/>
                      <a:pt x="15252955" y="978"/>
                    </a:cubicBezTo>
                    <a:cubicBezTo>
                      <a:pt x="26890413" y="-6642"/>
                      <a:pt x="27215913" y="32982"/>
                      <a:pt x="27491756" y="25362"/>
                    </a:cubicBezTo>
                    <a:cubicBezTo>
                      <a:pt x="27755408" y="18123"/>
                      <a:pt x="28100215" y="36030"/>
                      <a:pt x="28362850" y="66129"/>
                    </a:cubicBezTo>
                    <a:cubicBezTo>
                      <a:pt x="28797953" y="115786"/>
                      <a:pt x="29044967" y="154521"/>
                      <a:pt x="29296046" y="533616"/>
                    </a:cubicBezTo>
                    <a:cubicBezTo>
                      <a:pt x="29360055" y="631660"/>
                      <a:pt x="29417332" y="734022"/>
                      <a:pt x="29463053" y="841972"/>
                    </a:cubicBezTo>
                    <a:cubicBezTo>
                      <a:pt x="29549283" y="1046315"/>
                      <a:pt x="29587511" y="1267295"/>
                      <a:pt x="29558808" y="1272375"/>
                    </a:cubicBezTo>
                    <a:close/>
                  </a:path>
                </a:pathLst>
              </a:custGeom>
              <a:solidFill>
                <a:srgbClr val="512F1C"/>
              </a:solidFill>
            </p:spPr>
          </p:sp>
        </p:grpSp>
        <p:sp>
          <p:nvSpPr>
            <p:cNvPr name="TextBox 16" id="16"/>
            <p:cNvSpPr txBox="true"/>
            <p:nvPr/>
          </p:nvSpPr>
          <p:spPr>
            <a:xfrm rot="0">
              <a:off x="418386" y="94292"/>
              <a:ext cx="5100221" cy="496515"/>
            </a:xfrm>
            <a:prstGeom prst="rect">
              <a:avLst/>
            </a:prstGeom>
          </p:spPr>
          <p:txBody>
            <a:bodyPr anchor="t" rtlCol="false" tIns="0" lIns="0" bIns="0" rIns="0">
              <a:spAutoFit/>
            </a:bodyPr>
            <a:lstStyle/>
            <a:p>
              <a:pPr algn="l" marL="0" indent="0" lvl="0">
                <a:lnSpc>
                  <a:spcPts val="2641"/>
                </a:lnSpc>
                <a:spcBef>
                  <a:spcPct val="0"/>
                </a:spcBef>
              </a:pPr>
              <a:r>
                <a:rPr lang="en-US" sz="2201">
                  <a:solidFill>
                    <a:srgbClr val="FFF5E8"/>
                  </a:solidFill>
                  <a:latin typeface="Tropikal"/>
                  <a:ea typeface="Tropikal"/>
                  <a:cs typeface="Tropikal"/>
                  <a:sym typeface="Tropikal"/>
                </a:rPr>
                <a:t>ADVANTAGES AND LIMITATIONS</a:t>
              </a:r>
            </a:p>
          </p:txBody>
        </p:sp>
      </p:grpSp>
      <p:grpSp>
        <p:nvGrpSpPr>
          <p:cNvPr name="Group 17" id="17"/>
          <p:cNvGrpSpPr/>
          <p:nvPr/>
        </p:nvGrpSpPr>
        <p:grpSpPr>
          <a:xfrm rot="0">
            <a:off x="134805" y="993216"/>
            <a:ext cx="5488237" cy="1248884"/>
            <a:chOff x="0" y="0"/>
            <a:chExt cx="4438752" cy="1010067"/>
          </a:xfrm>
        </p:grpSpPr>
        <p:sp>
          <p:nvSpPr>
            <p:cNvPr name="Freeform 18" id="18"/>
            <p:cNvSpPr/>
            <p:nvPr/>
          </p:nvSpPr>
          <p:spPr>
            <a:xfrm flipH="false" flipV="false" rot="0">
              <a:off x="0" y="-1297"/>
              <a:ext cx="4438603" cy="1010642"/>
            </a:xfrm>
            <a:custGeom>
              <a:avLst/>
              <a:gdLst/>
              <a:ahLst/>
              <a:cxnLst/>
              <a:rect r="r" b="b" t="t" l="l"/>
              <a:pathLst>
                <a:path h="1010642" w="4438603">
                  <a:moveTo>
                    <a:pt x="4429862" y="35587"/>
                  </a:moveTo>
                  <a:cubicBezTo>
                    <a:pt x="4428592" y="31777"/>
                    <a:pt x="4428592" y="27967"/>
                    <a:pt x="4428592" y="22887"/>
                  </a:cubicBezTo>
                  <a:cubicBezTo>
                    <a:pt x="4428592" y="8917"/>
                    <a:pt x="4424782" y="3837"/>
                    <a:pt x="4410812" y="2567"/>
                  </a:cubicBezTo>
                  <a:cubicBezTo>
                    <a:pt x="4360971" y="1297"/>
                    <a:pt x="4276271" y="-2513"/>
                    <a:pt x="4195100" y="2567"/>
                  </a:cubicBezTo>
                  <a:cubicBezTo>
                    <a:pt x="4043345" y="10187"/>
                    <a:pt x="3895121" y="11457"/>
                    <a:pt x="3743366" y="11457"/>
                  </a:cubicBezTo>
                  <a:cubicBezTo>
                    <a:pt x="3513970" y="11457"/>
                    <a:pt x="3288104" y="7647"/>
                    <a:pt x="3058708" y="6377"/>
                  </a:cubicBezTo>
                  <a:cubicBezTo>
                    <a:pt x="2945775" y="5107"/>
                    <a:pt x="2836370" y="5107"/>
                    <a:pt x="2723437" y="6377"/>
                  </a:cubicBezTo>
                  <a:cubicBezTo>
                    <a:pt x="2599916" y="6377"/>
                    <a:pt x="2479925" y="8917"/>
                    <a:pt x="2356404" y="10187"/>
                  </a:cubicBezTo>
                  <a:cubicBezTo>
                    <a:pt x="2264646" y="11457"/>
                    <a:pt x="2176416" y="10187"/>
                    <a:pt x="2084658" y="13997"/>
                  </a:cubicBezTo>
                  <a:cubicBezTo>
                    <a:pt x="1992900" y="17807"/>
                    <a:pt x="1594104" y="17807"/>
                    <a:pt x="1502346" y="16537"/>
                  </a:cubicBezTo>
                  <a:cubicBezTo>
                    <a:pt x="1445879" y="15267"/>
                    <a:pt x="1262362" y="19077"/>
                    <a:pt x="1205896" y="19077"/>
                  </a:cubicBezTo>
                  <a:cubicBezTo>
                    <a:pt x="1131783" y="19077"/>
                    <a:pt x="1054141" y="20347"/>
                    <a:pt x="980029" y="19077"/>
                  </a:cubicBezTo>
                  <a:cubicBezTo>
                    <a:pt x="891800" y="17807"/>
                    <a:pt x="803570" y="16537"/>
                    <a:pt x="715341" y="22887"/>
                  </a:cubicBezTo>
                  <a:cubicBezTo>
                    <a:pt x="627112" y="29237"/>
                    <a:pt x="538883" y="29237"/>
                    <a:pt x="450654" y="26697"/>
                  </a:cubicBezTo>
                  <a:cubicBezTo>
                    <a:pt x="358895" y="24157"/>
                    <a:pt x="270666" y="22887"/>
                    <a:pt x="178908" y="21617"/>
                  </a:cubicBezTo>
                  <a:cubicBezTo>
                    <a:pt x="122441" y="19077"/>
                    <a:pt x="62445" y="17807"/>
                    <a:pt x="39370" y="17807"/>
                  </a:cubicBezTo>
                  <a:cubicBezTo>
                    <a:pt x="26670" y="16537"/>
                    <a:pt x="13970" y="15267"/>
                    <a:pt x="0" y="13997"/>
                  </a:cubicBezTo>
                  <a:cubicBezTo>
                    <a:pt x="0" y="21617"/>
                    <a:pt x="0" y="26697"/>
                    <a:pt x="0" y="30507"/>
                  </a:cubicBezTo>
                  <a:cubicBezTo>
                    <a:pt x="7620" y="80175"/>
                    <a:pt x="3810" y="124064"/>
                    <a:pt x="2540" y="158600"/>
                  </a:cubicBezTo>
                  <a:cubicBezTo>
                    <a:pt x="1270" y="183063"/>
                    <a:pt x="2540" y="206806"/>
                    <a:pt x="2540" y="231269"/>
                  </a:cubicBezTo>
                  <a:cubicBezTo>
                    <a:pt x="3810" y="253573"/>
                    <a:pt x="5080" y="275877"/>
                    <a:pt x="6350" y="298181"/>
                  </a:cubicBezTo>
                  <a:cubicBezTo>
                    <a:pt x="7620" y="319766"/>
                    <a:pt x="6350" y="341351"/>
                    <a:pt x="7620" y="362936"/>
                  </a:cubicBezTo>
                  <a:cubicBezTo>
                    <a:pt x="8890" y="396032"/>
                    <a:pt x="10160" y="429129"/>
                    <a:pt x="11430" y="462226"/>
                  </a:cubicBezTo>
                  <a:cubicBezTo>
                    <a:pt x="11430" y="474457"/>
                    <a:pt x="11430" y="947883"/>
                    <a:pt x="11430" y="960114"/>
                  </a:cubicBezTo>
                  <a:cubicBezTo>
                    <a:pt x="11430" y="977074"/>
                    <a:pt x="15240" y="980884"/>
                    <a:pt x="31750" y="984694"/>
                  </a:cubicBezTo>
                  <a:cubicBezTo>
                    <a:pt x="43180" y="987234"/>
                    <a:pt x="54610" y="989774"/>
                    <a:pt x="76562" y="991044"/>
                  </a:cubicBezTo>
                  <a:cubicBezTo>
                    <a:pt x="221258" y="992314"/>
                    <a:pt x="365954" y="993584"/>
                    <a:pt x="510650" y="993584"/>
                  </a:cubicBezTo>
                  <a:cubicBezTo>
                    <a:pt x="542412" y="993584"/>
                    <a:pt x="574175" y="993584"/>
                    <a:pt x="605937" y="993584"/>
                  </a:cubicBezTo>
                  <a:cubicBezTo>
                    <a:pt x="708283" y="994854"/>
                    <a:pt x="807100" y="998664"/>
                    <a:pt x="909446" y="996124"/>
                  </a:cubicBezTo>
                  <a:cubicBezTo>
                    <a:pt x="1018850" y="993584"/>
                    <a:pt x="1131783" y="994854"/>
                    <a:pt x="1241187" y="996124"/>
                  </a:cubicBezTo>
                  <a:cubicBezTo>
                    <a:pt x="1371767" y="997394"/>
                    <a:pt x="1939962" y="997394"/>
                    <a:pt x="2070542" y="997394"/>
                  </a:cubicBezTo>
                  <a:cubicBezTo>
                    <a:pt x="2179946" y="998664"/>
                    <a:pt x="2289350" y="997394"/>
                    <a:pt x="2398754" y="998664"/>
                  </a:cubicBezTo>
                  <a:cubicBezTo>
                    <a:pt x="2479925" y="998664"/>
                    <a:pt x="2561096" y="1001204"/>
                    <a:pt x="2642267" y="999934"/>
                  </a:cubicBezTo>
                  <a:cubicBezTo>
                    <a:pt x="2811667" y="999934"/>
                    <a:pt x="2981067" y="997394"/>
                    <a:pt x="3150467" y="998664"/>
                  </a:cubicBezTo>
                  <a:cubicBezTo>
                    <a:pt x="3408096" y="999934"/>
                    <a:pt x="3665725" y="1003744"/>
                    <a:pt x="3923354" y="1006284"/>
                  </a:cubicBezTo>
                  <a:cubicBezTo>
                    <a:pt x="4008054" y="1007554"/>
                    <a:pt x="4092754" y="1006284"/>
                    <a:pt x="4177454" y="1005014"/>
                  </a:cubicBezTo>
                  <a:cubicBezTo>
                    <a:pt x="4251567" y="1003744"/>
                    <a:pt x="4325679" y="1003744"/>
                    <a:pt x="4394302" y="1010094"/>
                  </a:cubicBezTo>
                  <a:cubicBezTo>
                    <a:pt x="4407002" y="1012634"/>
                    <a:pt x="4415892" y="1006284"/>
                    <a:pt x="4417162" y="992314"/>
                  </a:cubicBezTo>
                  <a:cubicBezTo>
                    <a:pt x="4418432" y="977074"/>
                    <a:pt x="4419702" y="961834"/>
                    <a:pt x="4419702" y="952200"/>
                  </a:cubicBezTo>
                  <a:cubicBezTo>
                    <a:pt x="4422242" y="927737"/>
                    <a:pt x="4424782" y="442080"/>
                    <a:pt x="4427322" y="417617"/>
                  </a:cubicBezTo>
                  <a:cubicBezTo>
                    <a:pt x="4428592" y="408264"/>
                    <a:pt x="4428592" y="398910"/>
                    <a:pt x="4428592" y="390276"/>
                  </a:cubicBezTo>
                  <a:cubicBezTo>
                    <a:pt x="4429862" y="365814"/>
                    <a:pt x="4431132" y="341351"/>
                    <a:pt x="4432402" y="316169"/>
                  </a:cubicBezTo>
                  <a:cubicBezTo>
                    <a:pt x="4433672" y="287389"/>
                    <a:pt x="4433672" y="259329"/>
                    <a:pt x="4433672" y="230549"/>
                  </a:cubicBezTo>
                  <a:cubicBezTo>
                    <a:pt x="4433672" y="221196"/>
                    <a:pt x="4434942" y="211842"/>
                    <a:pt x="4434942" y="203208"/>
                  </a:cubicBezTo>
                  <a:cubicBezTo>
                    <a:pt x="4434942" y="179465"/>
                    <a:pt x="4433672" y="156441"/>
                    <a:pt x="4434942" y="132698"/>
                  </a:cubicBezTo>
                  <a:cubicBezTo>
                    <a:pt x="4438752" y="108235"/>
                    <a:pt x="4442562" y="73700"/>
                    <a:pt x="4429862" y="35587"/>
                  </a:cubicBezTo>
                  <a:close/>
                </a:path>
              </a:pathLst>
            </a:custGeom>
            <a:solidFill>
              <a:srgbClr val="FFF5E8"/>
            </a:solidFill>
          </p:spPr>
        </p:sp>
      </p:grpSp>
      <p:grpSp>
        <p:nvGrpSpPr>
          <p:cNvPr name="Group 19" id="19"/>
          <p:cNvGrpSpPr/>
          <p:nvPr/>
        </p:nvGrpSpPr>
        <p:grpSpPr>
          <a:xfrm rot="0">
            <a:off x="6244679" y="1028700"/>
            <a:ext cx="5896474" cy="1213400"/>
            <a:chOff x="0" y="0"/>
            <a:chExt cx="4599678" cy="946540"/>
          </a:xfrm>
        </p:grpSpPr>
        <p:sp>
          <p:nvSpPr>
            <p:cNvPr name="Freeform 20" id="20"/>
            <p:cNvSpPr/>
            <p:nvPr/>
          </p:nvSpPr>
          <p:spPr>
            <a:xfrm flipH="false" flipV="false" rot="0">
              <a:off x="0" y="-1297"/>
              <a:ext cx="4599528" cy="947115"/>
            </a:xfrm>
            <a:custGeom>
              <a:avLst/>
              <a:gdLst/>
              <a:ahLst/>
              <a:cxnLst/>
              <a:rect r="r" b="b" t="t" l="l"/>
              <a:pathLst>
                <a:path h="947115" w="4599528">
                  <a:moveTo>
                    <a:pt x="4590788" y="35587"/>
                  </a:moveTo>
                  <a:cubicBezTo>
                    <a:pt x="4589518" y="31777"/>
                    <a:pt x="4589518" y="27967"/>
                    <a:pt x="4589518" y="22887"/>
                  </a:cubicBezTo>
                  <a:cubicBezTo>
                    <a:pt x="4589518" y="8917"/>
                    <a:pt x="4585708" y="3837"/>
                    <a:pt x="4571738" y="2567"/>
                  </a:cubicBezTo>
                  <a:cubicBezTo>
                    <a:pt x="4520699" y="1297"/>
                    <a:pt x="4432853" y="-2513"/>
                    <a:pt x="4348668" y="2567"/>
                  </a:cubicBezTo>
                  <a:cubicBezTo>
                    <a:pt x="4191278" y="10187"/>
                    <a:pt x="4037548" y="11457"/>
                    <a:pt x="3880158" y="11457"/>
                  </a:cubicBezTo>
                  <a:cubicBezTo>
                    <a:pt x="3642242" y="11457"/>
                    <a:pt x="3407987" y="7647"/>
                    <a:pt x="3170072" y="6377"/>
                  </a:cubicBezTo>
                  <a:cubicBezTo>
                    <a:pt x="3052944" y="5107"/>
                    <a:pt x="2939477" y="5107"/>
                    <a:pt x="2822350" y="6377"/>
                  </a:cubicBezTo>
                  <a:cubicBezTo>
                    <a:pt x="2694241" y="6377"/>
                    <a:pt x="2569793" y="8917"/>
                    <a:pt x="2441685" y="10187"/>
                  </a:cubicBezTo>
                  <a:cubicBezTo>
                    <a:pt x="2346519" y="11457"/>
                    <a:pt x="2255013" y="10187"/>
                    <a:pt x="2159847" y="13997"/>
                  </a:cubicBezTo>
                  <a:cubicBezTo>
                    <a:pt x="2064681" y="17807"/>
                    <a:pt x="1651074" y="17807"/>
                    <a:pt x="1555908" y="16537"/>
                  </a:cubicBezTo>
                  <a:cubicBezTo>
                    <a:pt x="1497344" y="15267"/>
                    <a:pt x="1307012" y="19077"/>
                    <a:pt x="1248448" y="19077"/>
                  </a:cubicBezTo>
                  <a:cubicBezTo>
                    <a:pt x="1171583" y="19077"/>
                    <a:pt x="1091058" y="20347"/>
                    <a:pt x="1014193" y="19077"/>
                  </a:cubicBezTo>
                  <a:cubicBezTo>
                    <a:pt x="922687" y="17807"/>
                    <a:pt x="831181" y="16537"/>
                    <a:pt x="739675" y="22887"/>
                  </a:cubicBezTo>
                  <a:cubicBezTo>
                    <a:pt x="648169" y="29237"/>
                    <a:pt x="556664" y="29237"/>
                    <a:pt x="465158" y="26697"/>
                  </a:cubicBezTo>
                  <a:cubicBezTo>
                    <a:pt x="369991" y="24157"/>
                    <a:pt x="278486" y="22887"/>
                    <a:pt x="183319" y="21617"/>
                  </a:cubicBezTo>
                  <a:cubicBezTo>
                    <a:pt x="124756" y="19077"/>
                    <a:pt x="62532" y="17807"/>
                    <a:pt x="39370" y="17807"/>
                  </a:cubicBezTo>
                  <a:cubicBezTo>
                    <a:pt x="26670" y="16537"/>
                    <a:pt x="13970" y="15267"/>
                    <a:pt x="0" y="13997"/>
                  </a:cubicBezTo>
                  <a:cubicBezTo>
                    <a:pt x="0" y="21617"/>
                    <a:pt x="0" y="26697"/>
                    <a:pt x="0" y="30507"/>
                  </a:cubicBezTo>
                  <a:cubicBezTo>
                    <a:pt x="7620" y="79129"/>
                    <a:pt x="3810" y="119905"/>
                    <a:pt x="2540" y="151992"/>
                  </a:cubicBezTo>
                  <a:cubicBezTo>
                    <a:pt x="1270" y="174719"/>
                    <a:pt x="2540" y="196779"/>
                    <a:pt x="2540" y="219507"/>
                  </a:cubicBezTo>
                  <a:cubicBezTo>
                    <a:pt x="3810" y="240229"/>
                    <a:pt x="5080" y="260952"/>
                    <a:pt x="6350" y="281674"/>
                  </a:cubicBezTo>
                  <a:cubicBezTo>
                    <a:pt x="7620" y="301728"/>
                    <a:pt x="6350" y="321782"/>
                    <a:pt x="7620" y="341836"/>
                  </a:cubicBezTo>
                  <a:cubicBezTo>
                    <a:pt x="8890" y="372586"/>
                    <a:pt x="10160" y="403335"/>
                    <a:pt x="11430" y="434084"/>
                  </a:cubicBezTo>
                  <a:cubicBezTo>
                    <a:pt x="11430" y="445448"/>
                    <a:pt x="11430" y="885300"/>
                    <a:pt x="11430" y="896663"/>
                  </a:cubicBezTo>
                  <a:cubicBezTo>
                    <a:pt x="11430" y="913547"/>
                    <a:pt x="15240" y="917357"/>
                    <a:pt x="31750" y="921167"/>
                  </a:cubicBezTo>
                  <a:cubicBezTo>
                    <a:pt x="43180" y="923707"/>
                    <a:pt x="54610" y="926247"/>
                    <a:pt x="77173" y="927517"/>
                  </a:cubicBezTo>
                  <a:cubicBezTo>
                    <a:pt x="227242" y="928787"/>
                    <a:pt x="377312" y="930057"/>
                    <a:pt x="527382" y="930057"/>
                  </a:cubicBezTo>
                  <a:cubicBezTo>
                    <a:pt x="560324" y="930057"/>
                    <a:pt x="593266" y="930057"/>
                    <a:pt x="626208" y="930057"/>
                  </a:cubicBezTo>
                  <a:cubicBezTo>
                    <a:pt x="732355" y="931327"/>
                    <a:pt x="834842" y="935137"/>
                    <a:pt x="940988" y="932597"/>
                  </a:cubicBezTo>
                  <a:cubicBezTo>
                    <a:pt x="1054456" y="930057"/>
                    <a:pt x="1171583" y="931327"/>
                    <a:pt x="1285051" y="932597"/>
                  </a:cubicBezTo>
                  <a:cubicBezTo>
                    <a:pt x="1420479" y="933867"/>
                    <a:pt x="2009777" y="933867"/>
                    <a:pt x="2145206" y="933867"/>
                  </a:cubicBezTo>
                  <a:cubicBezTo>
                    <a:pt x="2258674" y="935137"/>
                    <a:pt x="2372141" y="933867"/>
                    <a:pt x="2485608" y="935137"/>
                  </a:cubicBezTo>
                  <a:cubicBezTo>
                    <a:pt x="2569794" y="935137"/>
                    <a:pt x="2653979" y="937677"/>
                    <a:pt x="2738164" y="936407"/>
                  </a:cubicBezTo>
                  <a:cubicBezTo>
                    <a:pt x="2913856" y="936407"/>
                    <a:pt x="3089547" y="933867"/>
                    <a:pt x="3265238" y="935137"/>
                  </a:cubicBezTo>
                  <a:cubicBezTo>
                    <a:pt x="3532436" y="936407"/>
                    <a:pt x="3799633" y="940217"/>
                    <a:pt x="4066830" y="942757"/>
                  </a:cubicBezTo>
                  <a:cubicBezTo>
                    <a:pt x="4154675" y="944027"/>
                    <a:pt x="4242521" y="942757"/>
                    <a:pt x="4330367" y="941487"/>
                  </a:cubicBezTo>
                  <a:cubicBezTo>
                    <a:pt x="4407232" y="940217"/>
                    <a:pt x="4484097" y="940217"/>
                    <a:pt x="4555227" y="946567"/>
                  </a:cubicBezTo>
                  <a:cubicBezTo>
                    <a:pt x="4567928" y="949107"/>
                    <a:pt x="4576818" y="942757"/>
                    <a:pt x="4578088" y="928787"/>
                  </a:cubicBezTo>
                  <a:cubicBezTo>
                    <a:pt x="4579358" y="913547"/>
                    <a:pt x="4580628" y="898307"/>
                    <a:pt x="4580628" y="889310"/>
                  </a:cubicBezTo>
                  <a:cubicBezTo>
                    <a:pt x="4583168" y="866582"/>
                    <a:pt x="4585708" y="415367"/>
                    <a:pt x="4588247" y="392640"/>
                  </a:cubicBezTo>
                  <a:cubicBezTo>
                    <a:pt x="4589518" y="383949"/>
                    <a:pt x="4589518" y="375259"/>
                    <a:pt x="4589518" y="367238"/>
                  </a:cubicBezTo>
                  <a:cubicBezTo>
                    <a:pt x="4590788" y="344510"/>
                    <a:pt x="4592058" y="321782"/>
                    <a:pt x="4593328" y="298386"/>
                  </a:cubicBezTo>
                  <a:cubicBezTo>
                    <a:pt x="4594597" y="271647"/>
                    <a:pt x="4594597" y="245577"/>
                    <a:pt x="4594597" y="218838"/>
                  </a:cubicBezTo>
                  <a:cubicBezTo>
                    <a:pt x="4594597" y="210148"/>
                    <a:pt x="4595868" y="201458"/>
                    <a:pt x="4595868" y="193436"/>
                  </a:cubicBezTo>
                  <a:cubicBezTo>
                    <a:pt x="4595868" y="171377"/>
                    <a:pt x="4594597" y="149986"/>
                    <a:pt x="4595868" y="127927"/>
                  </a:cubicBezTo>
                  <a:cubicBezTo>
                    <a:pt x="4599678" y="105199"/>
                    <a:pt x="4603488" y="73112"/>
                    <a:pt x="4590788" y="35587"/>
                  </a:cubicBezTo>
                  <a:close/>
                </a:path>
              </a:pathLst>
            </a:custGeom>
            <a:solidFill>
              <a:srgbClr val="FFF5E8"/>
            </a:solidFill>
          </p:spPr>
        </p:sp>
      </p:grpSp>
      <p:grpSp>
        <p:nvGrpSpPr>
          <p:cNvPr name="Group 21" id="21"/>
          <p:cNvGrpSpPr/>
          <p:nvPr/>
        </p:nvGrpSpPr>
        <p:grpSpPr>
          <a:xfrm rot="0">
            <a:off x="12375126" y="1073787"/>
            <a:ext cx="5739115" cy="1168313"/>
            <a:chOff x="0" y="0"/>
            <a:chExt cx="4476927" cy="911369"/>
          </a:xfrm>
        </p:grpSpPr>
        <p:sp>
          <p:nvSpPr>
            <p:cNvPr name="Freeform 22" id="22"/>
            <p:cNvSpPr/>
            <p:nvPr/>
          </p:nvSpPr>
          <p:spPr>
            <a:xfrm flipH="false" flipV="false" rot="0">
              <a:off x="0" y="-1297"/>
              <a:ext cx="4476777" cy="911944"/>
            </a:xfrm>
            <a:custGeom>
              <a:avLst/>
              <a:gdLst/>
              <a:ahLst/>
              <a:cxnLst/>
              <a:rect r="r" b="b" t="t" l="l"/>
              <a:pathLst>
                <a:path h="911944" w="4476777">
                  <a:moveTo>
                    <a:pt x="4468037" y="35587"/>
                  </a:moveTo>
                  <a:cubicBezTo>
                    <a:pt x="4466767" y="31777"/>
                    <a:pt x="4466767" y="27967"/>
                    <a:pt x="4466767" y="22887"/>
                  </a:cubicBezTo>
                  <a:cubicBezTo>
                    <a:pt x="4466767" y="8917"/>
                    <a:pt x="4462957" y="3837"/>
                    <a:pt x="4448987" y="2567"/>
                  </a:cubicBezTo>
                  <a:cubicBezTo>
                    <a:pt x="4398861" y="1297"/>
                    <a:pt x="4313415" y="-2513"/>
                    <a:pt x="4231529" y="2567"/>
                  </a:cubicBezTo>
                  <a:cubicBezTo>
                    <a:pt x="4078438" y="10187"/>
                    <a:pt x="3928907" y="11457"/>
                    <a:pt x="3775816" y="11457"/>
                  </a:cubicBezTo>
                  <a:cubicBezTo>
                    <a:pt x="3544399" y="11457"/>
                    <a:pt x="3316543" y="7647"/>
                    <a:pt x="3085126" y="6377"/>
                  </a:cubicBezTo>
                  <a:cubicBezTo>
                    <a:pt x="2971197" y="5107"/>
                    <a:pt x="2860829" y="5107"/>
                    <a:pt x="2746901" y="6377"/>
                  </a:cubicBezTo>
                  <a:cubicBezTo>
                    <a:pt x="2622292" y="6377"/>
                    <a:pt x="2501243" y="8917"/>
                    <a:pt x="2376634" y="10187"/>
                  </a:cubicBezTo>
                  <a:cubicBezTo>
                    <a:pt x="2284068" y="11457"/>
                    <a:pt x="2195061" y="10187"/>
                    <a:pt x="2102494" y="13997"/>
                  </a:cubicBezTo>
                  <a:cubicBezTo>
                    <a:pt x="2009928" y="17807"/>
                    <a:pt x="1607618" y="17807"/>
                    <a:pt x="1515052" y="16537"/>
                  </a:cubicBezTo>
                  <a:cubicBezTo>
                    <a:pt x="1458087" y="15267"/>
                    <a:pt x="1272954" y="19077"/>
                    <a:pt x="1215990" y="19077"/>
                  </a:cubicBezTo>
                  <a:cubicBezTo>
                    <a:pt x="1141224" y="19077"/>
                    <a:pt x="1062899" y="20347"/>
                    <a:pt x="988133" y="19077"/>
                  </a:cubicBezTo>
                  <a:cubicBezTo>
                    <a:pt x="899127" y="17807"/>
                    <a:pt x="810120" y="16537"/>
                    <a:pt x="721114" y="22887"/>
                  </a:cubicBezTo>
                  <a:cubicBezTo>
                    <a:pt x="632107" y="29237"/>
                    <a:pt x="543101" y="29237"/>
                    <a:pt x="454094" y="26697"/>
                  </a:cubicBezTo>
                  <a:cubicBezTo>
                    <a:pt x="361528" y="24157"/>
                    <a:pt x="272521" y="22887"/>
                    <a:pt x="179954" y="21617"/>
                  </a:cubicBezTo>
                  <a:cubicBezTo>
                    <a:pt x="122990" y="19077"/>
                    <a:pt x="62466" y="17807"/>
                    <a:pt x="39370" y="17807"/>
                  </a:cubicBezTo>
                  <a:cubicBezTo>
                    <a:pt x="26670" y="16537"/>
                    <a:pt x="13970" y="15267"/>
                    <a:pt x="0" y="13997"/>
                  </a:cubicBezTo>
                  <a:cubicBezTo>
                    <a:pt x="0" y="21617"/>
                    <a:pt x="0" y="26697"/>
                    <a:pt x="0" y="30507"/>
                  </a:cubicBezTo>
                  <a:cubicBezTo>
                    <a:pt x="7620" y="78549"/>
                    <a:pt x="3810" y="117602"/>
                    <a:pt x="2540" y="148333"/>
                  </a:cubicBezTo>
                  <a:cubicBezTo>
                    <a:pt x="1270" y="170100"/>
                    <a:pt x="2540" y="191227"/>
                    <a:pt x="2540" y="212995"/>
                  </a:cubicBezTo>
                  <a:cubicBezTo>
                    <a:pt x="3810" y="232842"/>
                    <a:pt x="5080" y="252688"/>
                    <a:pt x="6350" y="272535"/>
                  </a:cubicBezTo>
                  <a:cubicBezTo>
                    <a:pt x="7620" y="291741"/>
                    <a:pt x="6350" y="310948"/>
                    <a:pt x="7620" y="330154"/>
                  </a:cubicBezTo>
                  <a:cubicBezTo>
                    <a:pt x="8890" y="359604"/>
                    <a:pt x="10160" y="389054"/>
                    <a:pt x="11430" y="418504"/>
                  </a:cubicBezTo>
                  <a:cubicBezTo>
                    <a:pt x="11430" y="429388"/>
                    <a:pt x="11430" y="850651"/>
                    <a:pt x="11430" y="861534"/>
                  </a:cubicBezTo>
                  <a:cubicBezTo>
                    <a:pt x="11430" y="878376"/>
                    <a:pt x="15240" y="882186"/>
                    <a:pt x="31750" y="885996"/>
                  </a:cubicBezTo>
                  <a:cubicBezTo>
                    <a:pt x="43180" y="888536"/>
                    <a:pt x="54610" y="891076"/>
                    <a:pt x="76707" y="892346"/>
                  </a:cubicBezTo>
                  <a:cubicBezTo>
                    <a:pt x="222678" y="893616"/>
                    <a:pt x="368648" y="894886"/>
                    <a:pt x="514619" y="894886"/>
                  </a:cubicBezTo>
                  <a:cubicBezTo>
                    <a:pt x="546661" y="894886"/>
                    <a:pt x="578704" y="894886"/>
                    <a:pt x="610746" y="894886"/>
                  </a:cubicBezTo>
                  <a:cubicBezTo>
                    <a:pt x="713993" y="896156"/>
                    <a:pt x="813681" y="899966"/>
                    <a:pt x="916928" y="897426"/>
                  </a:cubicBezTo>
                  <a:cubicBezTo>
                    <a:pt x="1027296" y="894886"/>
                    <a:pt x="1141225" y="896156"/>
                    <a:pt x="1251593" y="897426"/>
                  </a:cubicBezTo>
                  <a:cubicBezTo>
                    <a:pt x="1383322" y="898696"/>
                    <a:pt x="1956524" y="898696"/>
                    <a:pt x="2088254" y="898696"/>
                  </a:cubicBezTo>
                  <a:cubicBezTo>
                    <a:pt x="2198622" y="899966"/>
                    <a:pt x="2308989" y="898696"/>
                    <a:pt x="2419358" y="899966"/>
                  </a:cubicBezTo>
                  <a:cubicBezTo>
                    <a:pt x="2501244" y="899966"/>
                    <a:pt x="2583129" y="902506"/>
                    <a:pt x="2665015" y="901236"/>
                  </a:cubicBezTo>
                  <a:cubicBezTo>
                    <a:pt x="2835908" y="901236"/>
                    <a:pt x="3006800" y="898696"/>
                    <a:pt x="3177693" y="899966"/>
                  </a:cubicBezTo>
                  <a:cubicBezTo>
                    <a:pt x="3437592" y="901236"/>
                    <a:pt x="3697491" y="905046"/>
                    <a:pt x="3957389" y="907586"/>
                  </a:cubicBezTo>
                  <a:cubicBezTo>
                    <a:pt x="4042835" y="908856"/>
                    <a:pt x="4128282" y="907586"/>
                    <a:pt x="4213728" y="906316"/>
                  </a:cubicBezTo>
                  <a:cubicBezTo>
                    <a:pt x="4288494" y="905046"/>
                    <a:pt x="4363259" y="905046"/>
                    <a:pt x="4432477" y="911396"/>
                  </a:cubicBezTo>
                  <a:cubicBezTo>
                    <a:pt x="4445177" y="913936"/>
                    <a:pt x="4454067" y="907586"/>
                    <a:pt x="4455337" y="893616"/>
                  </a:cubicBezTo>
                  <a:cubicBezTo>
                    <a:pt x="4456607" y="878376"/>
                    <a:pt x="4457877" y="863136"/>
                    <a:pt x="4457877" y="854492"/>
                  </a:cubicBezTo>
                  <a:cubicBezTo>
                    <a:pt x="4460417" y="832725"/>
                    <a:pt x="4462957" y="400578"/>
                    <a:pt x="4465497" y="378811"/>
                  </a:cubicBezTo>
                  <a:cubicBezTo>
                    <a:pt x="4466767" y="370488"/>
                    <a:pt x="4466767" y="362165"/>
                    <a:pt x="4466767" y="354483"/>
                  </a:cubicBezTo>
                  <a:cubicBezTo>
                    <a:pt x="4468037" y="332715"/>
                    <a:pt x="4469307" y="310948"/>
                    <a:pt x="4470577" y="288540"/>
                  </a:cubicBezTo>
                  <a:cubicBezTo>
                    <a:pt x="4471847" y="262932"/>
                    <a:pt x="4471847" y="237963"/>
                    <a:pt x="4471847" y="212355"/>
                  </a:cubicBezTo>
                  <a:cubicBezTo>
                    <a:pt x="4471847" y="204032"/>
                    <a:pt x="4473117" y="195709"/>
                    <a:pt x="4473117" y="188026"/>
                  </a:cubicBezTo>
                  <a:cubicBezTo>
                    <a:pt x="4473117" y="166899"/>
                    <a:pt x="4471847" y="146412"/>
                    <a:pt x="4473117" y="125285"/>
                  </a:cubicBezTo>
                  <a:cubicBezTo>
                    <a:pt x="4476927" y="103518"/>
                    <a:pt x="4480737" y="72787"/>
                    <a:pt x="4468037" y="35587"/>
                  </a:cubicBezTo>
                  <a:close/>
                </a:path>
              </a:pathLst>
            </a:custGeom>
            <a:solidFill>
              <a:srgbClr val="FFF5E8"/>
            </a:solidFill>
          </p:spPr>
        </p:sp>
      </p:grpSp>
      <p:sp>
        <p:nvSpPr>
          <p:cNvPr name="Freeform 23" id="23"/>
          <p:cNvSpPr/>
          <p:nvPr/>
        </p:nvSpPr>
        <p:spPr>
          <a:xfrm flipH="false" flipV="false" rot="0">
            <a:off x="134805" y="2385951"/>
            <a:ext cx="4451638" cy="3183766"/>
          </a:xfrm>
          <a:custGeom>
            <a:avLst/>
            <a:gdLst/>
            <a:ahLst/>
            <a:cxnLst/>
            <a:rect r="r" b="b" t="t" l="l"/>
            <a:pathLst>
              <a:path h="3183766" w="4451638">
                <a:moveTo>
                  <a:pt x="0" y="0"/>
                </a:moveTo>
                <a:lnTo>
                  <a:pt x="4451638" y="0"/>
                </a:lnTo>
                <a:lnTo>
                  <a:pt x="4451638" y="3183766"/>
                </a:lnTo>
                <a:lnTo>
                  <a:pt x="0" y="3183766"/>
                </a:lnTo>
                <a:lnTo>
                  <a:pt x="0" y="0"/>
                </a:lnTo>
                <a:close/>
              </a:path>
            </a:pathLst>
          </a:custGeom>
          <a:blipFill>
            <a:blip r:embed="rId2"/>
            <a:stretch>
              <a:fillRect l="0" t="0" r="0" b="0"/>
            </a:stretch>
          </a:blipFill>
        </p:spPr>
      </p:sp>
      <p:sp>
        <p:nvSpPr>
          <p:cNvPr name="Freeform 24" id="24"/>
          <p:cNvSpPr/>
          <p:nvPr/>
        </p:nvSpPr>
        <p:spPr>
          <a:xfrm flipH="false" flipV="false" rot="0">
            <a:off x="134805" y="5600427"/>
            <a:ext cx="4451638" cy="3334213"/>
          </a:xfrm>
          <a:custGeom>
            <a:avLst/>
            <a:gdLst/>
            <a:ahLst/>
            <a:cxnLst/>
            <a:rect r="r" b="b" t="t" l="l"/>
            <a:pathLst>
              <a:path h="3334213" w="4451638">
                <a:moveTo>
                  <a:pt x="0" y="0"/>
                </a:moveTo>
                <a:lnTo>
                  <a:pt x="4451638" y="0"/>
                </a:lnTo>
                <a:lnTo>
                  <a:pt x="4451638" y="3334213"/>
                </a:lnTo>
                <a:lnTo>
                  <a:pt x="0" y="3334213"/>
                </a:lnTo>
                <a:lnTo>
                  <a:pt x="0" y="0"/>
                </a:lnTo>
                <a:close/>
              </a:path>
            </a:pathLst>
          </a:custGeom>
          <a:blipFill>
            <a:blip r:embed="rId3"/>
            <a:stretch>
              <a:fillRect l="-1002" t="-18" r="0" b="-18"/>
            </a:stretch>
          </a:blipFill>
        </p:spPr>
      </p:sp>
      <p:sp>
        <p:nvSpPr>
          <p:cNvPr name="Freeform 25" id="25"/>
          <p:cNvSpPr/>
          <p:nvPr/>
        </p:nvSpPr>
        <p:spPr>
          <a:xfrm flipH="false" flipV="false" rot="0">
            <a:off x="5499887" y="2532612"/>
            <a:ext cx="5038354" cy="2822870"/>
          </a:xfrm>
          <a:custGeom>
            <a:avLst/>
            <a:gdLst/>
            <a:ahLst/>
            <a:cxnLst/>
            <a:rect r="r" b="b" t="t" l="l"/>
            <a:pathLst>
              <a:path h="2822870" w="5038354">
                <a:moveTo>
                  <a:pt x="0" y="0"/>
                </a:moveTo>
                <a:lnTo>
                  <a:pt x="5038354" y="0"/>
                </a:lnTo>
                <a:lnTo>
                  <a:pt x="5038354" y="2822870"/>
                </a:lnTo>
                <a:lnTo>
                  <a:pt x="0" y="2822870"/>
                </a:lnTo>
                <a:lnTo>
                  <a:pt x="0" y="0"/>
                </a:lnTo>
                <a:close/>
              </a:path>
            </a:pathLst>
          </a:custGeom>
          <a:blipFill>
            <a:blip r:embed="rId4"/>
            <a:stretch>
              <a:fillRect l="-331" t="-32986" r="-331" b="0"/>
            </a:stretch>
          </a:blipFill>
        </p:spPr>
      </p:sp>
      <p:sp>
        <p:nvSpPr>
          <p:cNvPr name="Freeform 26" id="26"/>
          <p:cNvSpPr/>
          <p:nvPr/>
        </p:nvSpPr>
        <p:spPr>
          <a:xfrm flipH="false" flipV="false" rot="0">
            <a:off x="5623042" y="5630581"/>
            <a:ext cx="5092633" cy="2739475"/>
          </a:xfrm>
          <a:custGeom>
            <a:avLst/>
            <a:gdLst/>
            <a:ahLst/>
            <a:cxnLst/>
            <a:rect r="r" b="b" t="t" l="l"/>
            <a:pathLst>
              <a:path h="2739475" w="5092633">
                <a:moveTo>
                  <a:pt x="0" y="0"/>
                </a:moveTo>
                <a:lnTo>
                  <a:pt x="5092633" y="0"/>
                </a:lnTo>
                <a:lnTo>
                  <a:pt x="5092633" y="2739475"/>
                </a:lnTo>
                <a:lnTo>
                  <a:pt x="0" y="2739475"/>
                </a:lnTo>
                <a:lnTo>
                  <a:pt x="0" y="0"/>
                </a:lnTo>
                <a:close/>
              </a:path>
            </a:pathLst>
          </a:custGeom>
          <a:blipFill>
            <a:blip r:embed="rId4"/>
            <a:stretch>
              <a:fillRect l="-331" t="-34356" r="-331" b="-4154"/>
            </a:stretch>
          </a:blipFill>
        </p:spPr>
      </p:sp>
      <p:sp>
        <p:nvSpPr>
          <p:cNvPr name="Freeform 27" id="27"/>
          <p:cNvSpPr/>
          <p:nvPr/>
        </p:nvSpPr>
        <p:spPr>
          <a:xfrm flipH="false" flipV="false" rot="0">
            <a:off x="12141153" y="2486767"/>
            <a:ext cx="4726299" cy="2822870"/>
          </a:xfrm>
          <a:custGeom>
            <a:avLst/>
            <a:gdLst/>
            <a:ahLst/>
            <a:cxnLst/>
            <a:rect r="r" b="b" t="t" l="l"/>
            <a:pathLst>
              <a:path h="2822870" w="4726299">
                <a:moveTo>
                  <a:pt x="0" y="0"/>
                </a:moveTo>
                <a:lnTo>
                  <a:pt x="4726299" y="0"/>
                </a:lnTo>
                <a:lnTo>
                  <a:pt x="4726299" y="2822870"/>
                </a:lnTo>
                <a:lnTo>
                  <a:pt x="0" y="2822870"/>
                </a:lnTo>
                <a:lnTo>
                  <a:pt x="0" y="0"/>
                </a:lnTo>
                <a:close/>
              </a:path>
            </a:pathLst>
          </a:custGeom>
          <a:blipFill>
            <a:blip r:embed="rId4"/>
            <a:stretch>
              <a:fillRect l="-3654" t="-32986" r="-3654" b="0"/>
            </a:stretch>
          </a:blipFill>
        </p:spPr>
      </p:sp>
      <p:sp>
        <p:nvSpPr>
          <p:cNvPr name="Freeform 28" id="28"/>
          <p:cNvSpPr/>
          <p:nvPr/>
        </p:nvSpPr>
        <p:spPr>
          <a:xfrm flipH="false" flipV="false" rot="0">
            <a:off x="12871566" y="5554304"/>
            <a:ext cx="3466852" cy="2815753"/>
          </a:xfrm>
          <a:custGeom>
            <a:avLst/>
            <a:gdLst/>
            <a:ahLst/>
            <a:cxnLst/>
            <a:rect r="r" b="b" t="t" l="l"/>
            <a:pathLst>
              <a:path h="2815753" w="3466852">
                <a:moveTo>
                  <a:pt x="0" y="0"/>
                </a:moveTo>
                <a:lnTo>
                  <a:pt x="3466853" y="0"/>
                </a:lnTo>
                <a:lnTo>
                  <a:pt x="3466853" y="2815752"/>
                </a:lnTo>
                <a:lnTo>
                  <a:pt x="0" y="2815752"/>
                </a:lnTo>
                <a:lnTo>
                  <a:pt x="0" y="0"/>
                </a:lnTo>
                <a:close/>
              </a:path>
            </a:pathLst>
          </a:custGeom>
          <a:blipFill>
            <a:blip r:embed="rId5"/>
            <a:stretch>
              <a:fillRect l="-688" t="0" r="-688" b="0"/>
            </a:stretch>
          </a:blipFill>
        </p:spPr>
      </p:sp>
      <p:sp>
        <p:nvSpPr>
          <p:cNvPr name="TextBox 29" id="29"/>
          <p:cNvSpPr txBox="true"/>
          <p:nvPr/>
        </p:nvSpPr>
        <p:spPr>
          <a:xfrm rot="0">
            <a:off x="-1580643" y="85725"/>
            <a:ext cx="9688310" cy="521986"/>
          </a:xfrm>
          <a:prstGeom prst="rect">
            <a:avLst/>
          </a:prstGeom>
        </p:spPr>
        <p:txBody>
          <a:bodyPr anchor="t" rtlCol="false" tIns="0" lIns="0" bIns="0" rIns="0">
            <a:spAutoFit/>
          </a:bodyPr>
          <a:lstStyle/>
          <a:p>
            <a:pPr algn="ctr">
              <a:lnSpc>
                <a:spcPts val="3840"/>
              </a:lnSpc>
            </a:pPr>
            <a:r>
              <a:rPr lang="en-US" sz="4000" b="true">
                <a:solidFill>
                  <a:srgbClr val="18253B"/>
                </a:solidFill>
                <a:latin typeface="Livvic Bold"/>
                <a:ea typeface="Livvic Bold"/>
                <a:cs typeface="Livvic Bold"/>
                <a:sym typeface="Livvic Bold"/>
              </a:rPr>
              <a:t>Random Forest Classifier</a:t>
            </a:r>
          </a:p>
        </p:txBody>
      </p:sp>
      <p:sp>
        <p:nvSpPr>
          <p:cNvPr name="TextBox 30" id="30"/>
          <p:cNvSpPr txBox="true"/>
          <p:nvPr/>
        </p:nvSpPr>
        <p:spPr>
          <a:xfrm rot="0">
            <a:off x="245218" y="1160434"/>
            <a:ext cx="5377824" cy="895341"/>
          </a:xfrm>
          <a:prstGeom prst="rect">
            <a:avLst/>
          </a:prstGeom>
        </p:spPr>
        <p:txBody>
          <a:bodyPr anchor="t" rtlCol="false" tIns="0" lIns="0" bIns="0" rIns="0">
            <a:spAutoFit/>
          </a:bodyPr>
          <a:lstStyle/>
          <a:p>
            <a:pPr algn="l" marL="0" indent="0" lvl="1">
              <a:lnSpc>
                <a:spcPts val="2410"/>
              </a:lnSpc>
              <a:spcBef>
                <a:spcPct val="0"/>
              </a:spcBef>
            </a:pPr>
            <a:r>
              <a:rPr lang="en-US" sz="2008" spc="-20">
                <a:solidFill>
                  <a:srgbClr val="512F1C"/>
                </a:solidFill>
                <a:latin typeface="Barlow Condensed"/>
                <a:ea typeface="Barlow Condensed"/>
                <a:cs typeface="Barlow Condensed"/>
                <a:sym typeface="Barlow Condensed"/>
              </a:rPr>
              <a:t>A Random Forest Classifier creates multiple decision trees from different subsets of data and features, making it a robust ensemble method that reduces overfitting.</a:t>
            </a:r>
          </a:p>
        </p:txBody>
      </p:sp>
      <p:sp>
        <p:nvSpPr>
          <p:cNvPr name="TextBox 31" id="31"/>
          <p:cNvSpPr txBox="true"/>
          <p:nvPr/>
        </p:nvSpPr>
        <p:spPr>
          <a:xfrm rot="0">
            <a:off x="6363689" y="1150909"/>
            <a:ext cx="5777464" cy="885760"/>
          </a:xfrm>
          <a:prstGeom prst="rect">
            <a:avLst/>
          </a:prstGeom>
        </p:spPr>
        <p:txBody>
          <a:bodyPr anchor="t" rtlCol="false" tIns="0" lIns="0" bIns="0" rIns="0">
            <a:spAutoFit/>
          </a:bodyPr>
          <a:lstStyle/>
          <a:p>
            <a:pPr algn="l" marL="0" indent="0" lvl="1">
              <a:lnSpc>
                <a:spcPts val="2358"/>
              </a:lnSpc>
              <a:spcBef>
                <a:spcPct val="0"/>
              </a:spcBef>
            </a:pPr>
            <a:r>
              <a:rPr lang="en-US" sz="1965" spc="-19">
                <a:solidFill>
                  <a:srgbClr val="512F1C"/>
                </a:solidFill>
                <a:latin typeface="Barlow Condensed"/>
                <a:ea typeface="Barlow Condensed"/>
                <a:cs typeface="Barlow Condensed"/>
                <a:sym typeface="Barlow Condensed"/>
              </a:rPr>
              <a:t>Each tree "votes" on the predicted class, and the final classification is based on the majority vote across all trees, improving accuracy and reliability.</a:t>
            </a:r>
          </a:p>
        </p:txBody>
      </p:sp>
      <p:sp>
        <p:nvSpPr>
          <p:cNvPr name="TextBox 32" id="32"/>
          <p:cNvSpPr txBox="true"/>
          <p:nvPr/>
        </p:nvSpPr>
        <p:spPr>
          <a:xfrm rot="0">
            <a:off x="12375126" y="1064262"/>
            <a:ext cx="5646993" cy="1177838"/>
          </a:xfrm>
          <a:prstGeom prst="rect">
            <a:avLst/>
          </a:prstGeom>
        </p:spPr>
        <p:txBody>
          <a:bodyPr anchor="t" rtlCol="false" tIns="0" lIns="0" bIns="0" rIns="0">
            <a:spAutoFit/>
          </a:bodyPr>
          <a:lstStyle/>
          <a:p>
            <a:pPr algn="l" marL="0" indent="0" lvl="1">
              <a:lnSpc>
                <a:spcPts val="2358"/>
              </a:lnSpc>
              <a:spcBef>
                <a:spcPct val="0"/>
              </a:spcBef>
            </a:pPr>
            <a:r>
              <a:rPr lang="en-US" sz="1965" spc="-19">
                <a:solidFill>
                  <a:srgbClr val="512F1C"/>
                </a:solidFill>
                <a:latin typeface="Barlow Condensed"/>
                <a:ea typeface="Barlow Condensed"/>
                <a:cs typeface="Barlow Condensed"/>
                <a:sym typeface="Barlow Condensed"/>
              </a:rPr>
              <a:t>Random Forests handle large datasets well, provide feature importance, and are less prone to overfitting, but they can be computationally expensive and harder to interpret than individual trees.</a:t>
            </a:r>
          </a:p>
        </p:txBody>
      </p:sp>
      <p:sp>
        <p:nvSpPr>
          <p:cNvPr name="TextBox 33" id="33"/>
          <p:cNvSpPr txBox="true"/>
          <p:nvPr/>
        </p:nvSpPr>
        <p:spPr>
          <a:xfrm rot="0">
            <a:off x="6363689" y="5765057"/>
            <a:ext cx="4097587" cy="2337809"/>
          </a:xfrm>
          <a:prstGeom prst="rect">
            <a:avLst/>
          </a:prstGeom>
        </p:spPr>
        <p:txBody>
          <a:bodyPr anchor="t" rtlCol="false" tIns="0" lIns="0" bIns="0" rIns="0">
            <a:spAutoFit/>
          </a:bodyPr>
          <a:lstStyle/>
          <a:p>
            <a:pPr algn="ctr">
              <a:lnSpc>
                <a:spcPts val="2691"/>
              </a:lnSpc>
            </a:pPr>
            <a:r>
              <a:rPr lang="en-US" sz="2054">
                <a:solidFill>
                  <a:srgbClr val="000000"/>
                </a:solidFill>
                <a:latin typeface="Dekko"/>
                <a:ea typeface="Dekko"/>
                <a:cs typeface="Dekko"/>
                <a:sym typeface="Dekko"/>
              </a:rPr>
              <a:t>Gini vs. Entropy Criteria: For both gini and entropy criteria, training accuracy initially increased, then leveled off, while testing accuracy peaked around 1000 estimators before decreasing, likely due to noise capture in larger models.</a:t>
            </a:r>
          </a:p>
        </p:txBody>
      </p:sp>
      <p:sp>
        <p:nvSpPr>
          <p:cNvPr name="TextBox 34" id="34"/>
          <p:cNvSpPr txBox="true"/>
          <p:nvPr/>
        </p:nvSpPr>
        <p:spPr>
          <a:xfrm rot="0">
            <a:off x="12705048" y="2793474"/>
            <a:ext cx="3799888" cy="1727820"/>
          </a:xfrm>
          <a:prstGeom prst="rect">
            <a:avLst/>
          </a:prstGeom>
        </p:spPr>
        <p:txBody>
          <a:bodyPr anchor="t" rtlCol="false" tIns="0" lIns="0" bIns="0" rIns="0">
            <a:spAutoFit/>
          </a:bodyPr>
          <a:lstStyle/>
          <a:p>
            <a:pPr algn="ctr">
              <a:lnSpc>
                <a:spcPts val="2778"/>
              </a:lnSpc>
            </a:pPr>
            <a:r>
              <a:rPr lang="en-US" sz="2121">
                <a:solidFill>
                  <a:srgbClr val="000000"/>
                </a:solidFill>
                <a:latin typeface="Dekko"/>
                <a:ea typeface="Dekko"/>
                <a:cs typeface="Dekko"/>
                <a:sym typeface="Dekko"/>
              </a:rPr>
              <a:t>Robustness to Outliers: RFC was applied without outlier removal since its ensemble approach minimizes the impact of outliers by averaging across multiple trees.</a:t>
            </a:r>
          </a:p>
        </p:txBody>
      </p:sp>
      <p:sp>
        <p:nvSpPr>
          <p:cNvPr name="TextBox 35" id="35"/>
          <p:cNvSpPr txBox="true"/>
          <p:nvPr/>
        </p:nvSpPr>
        <p:spPr>
          <a:xfrm rot="0">
            <a:off x="6033087" y="2793474"/>
            <a:ext cx="4205971" cy="2043901"/>
          </a:xfrm>
          <a:prstGeom prst="rect">
            <a:avLst/>
          </a:prstGeom>
        </p:spPr>
        <p:txBody>
          <a:bodyPr anchor="t" rtlCol="false" tIns="0" lIns="0" bIns="0" rIns="0">
            <a:spAutoFit/>
          </a:bodyPr>
          <a:lstStyle/>
          <a:p>
            <a:pPr algn="ctr">
              <a:lnSpc>
                <a:spcPts val="2340"/>
              </a:lnSpc>
            </a:pPr>
            <a:r>
              <a:rPr lang="en-US" sz="1786">
                <a:solidFill>
                  <a:srgbClr val="000000"/>
                </a:solidFill>
                <a:latin typeface="Dekko"/>
                <a:ea typeface="Dekko"/>
                <a:cs typeface="Dekko"/>
                <a:sym typeface="Dekko"/>
              </a:rPr>
              <a:t>Default and Tuned Performance: The RFC with default parameters achieved an accuracy of 84.26%. Using GridSearchCV, the optimal configuration with gini criterion, 100 estimators, and max depth of 20 yielded a accuracy score of 83.74 on test data.</a:t>
            </a:r>
          </a:p>
          <a:p>
            <a:pPr algn="ctr">
              <a:lnSpc>
                <a:spcPts val="23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965349"/>
            <a:ext cx="18288000" cy="1321651"/>
            <a:chOff x="0" y="0"/>
            <a:chExt cx="4816593" cy="348089"/>
          </a:xfrm>
        </p:grpSpPr>
        <p:sp>
          <p:nvSpPr>
            <p:cNvPr name="Freeform 3" id="3"/>
            <p:cNvSpPr/>
            <p:nvPr/>
          </p:nvSpPr>
          <p:spPr>
            <a:xfrm flipH="false" flipV="false" rot="0">
              <a:off x="0" y="0"/>
              <a:ext cx="4816592" cy="348089"/>
            </a:xfrm>
            <a:custGeom>
              <a:avLst/>
              <a:gdLst/>
              <a:ahLst/>
              <a:cxnLst/>
              <a:rect r="r" b="b" t="t" l="l"/>
              <a:pathLst>
                <a:path h="348089" w="4816592">
                  <a:moveTo>
                    <a:pt x="0" y="0"/>
                  </a:moveTo>
                  <a:lnTo>
                    <a:pt x="4816592" y="0"/>
                  </a:lnTo>
                  <a:lnTo>
                    <a:pt x="4816592" y="348089"/>
                  </a:lnTo>
                  <a:lnTo>
                    <a:pt x="0" y="348089"/>
                  </a:lnTo>
                  <a:close/>
                </a:path>
              </a:pathLst>
            </a:custGeom>
            <a:solidFill>
              <a:srgbClr val="FF6A48"/>
            </a:solidFill>
          </p:spPr>
        </p:sp>
        <p:sp>
          <p:nvSpPr>
            <p:cNvPr name="TextBox 4" id="4"/>
            <p:cNvSpPr txBox="true"/>
            <p:nvPr/>
          </p:nvSpPr>
          <p:spPr>
            <a:xfrm>
              <a:off x="0" y="-38100"/>
              <a:ext cx="4816593" cy="38618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98394" y="1674347"/>
            <a:ext cx="4251162" cy="5060278"/>
            <a:chOff x="0" y="0"/>
            <a:chExt cx="1350844" cy="1607948"/>
          </a:xfrm>
        </p:grpSpPr>
        <p:sp>
          <p:nvSpPr>
            <p:cNvPr name="Freeform 6" id="6"/>
            <p:cNvSpPr/>
            <p:nvPr/>
          </p:nvSpPr>
          <p:spPr>
            <a:xfrm flipH="false" flipV="false" rot="0">
              <a:off x="0" y="0"/>
              <a:ext cx="1350844" cy="1607948"/>
            </a:xfrm>
            <a:custGeom>
              <a:avLst/>
              <a:gdLst/>
              <a:ahLst/>
              <a:cxnLst/>
              <a:rect r="r" b="b" t="t" l="l"/>
              <a:pathLst>
                <a:path h="1607948" w="1350844">
                  <a:moveTo>
                    <a:pt x="0" y="0"/>
                  </a:moveTo>
                  <a:lnTo>
                    <a:pt x="1350844" y="0"/>
                  </a:lnTo>
                  <a:lnTo>
                    <a:pt x="1350844" y="1607948"/>
                  </a:lnTo>
                  <a:lnTo>
                    <a:pt x="0" y="1607948"/>
                  </a:lnTo>
                  <a:close/>
                </a:path>
              </a:pathLst>
            </a:custGeom>
            <a:solidFill>
              <a:srgbClr val="000000">
                <a:alpha val="0"/>
              </a:srgbClr>
            </a:solidFill>
            <a:ln w="38100" cap="sq">
              <a:solidFill>
                <a:srgbClr val="000000"/>
              </a:solidFill>
              <a:prstDash val="solid"/>
              <a:miter/>
            </a:ln>
          </p:spPr>
        </p:sp>
        <p:sp>
          <p:nvSpPr>
            <p:cNvPr name="TextBox 7" id="7"/>
            <p:cNvSpPr txBox="true"/>
            <p:nvPr/>
          </p:nvSpPr>
          <p:spPr>
            <a:xfrm>
              <a:off x="0" y="-47625"/>
              <a:ext cx="1350844" cy="1655573"/>
            </a:xfrm>
            <a:prstGeom prst="rect">
              <a:avLst/>
            </a:prstGeom>
          </p:spPr>
          <p:txBody>
            <a:bodyPr anchor="ctr" rtlCol="false" tIns="50800" lIns="50800" bIns="50800" rIns="50800"/>
            <a:lstStyle/>
            <a:p>
              <a:pPr algn="ctr">
                <a:lnSpc>
                  <a:spcPts val="3210"/>
                </a:lnSpc>
              </a:pPr>
            </a:p>
          </p:txBody>
        </p:sp>
      </p:grpSp>
      <p:grpSp>
        <p:nvGrpSpPr>
          <p:cNvPr name="Group 8" id="8"/>
          <p:cNvGrpSpPr/>
          <p:nvPr/>
        </p:nvGrpSpPr>
        <p:grpSpPr>
          <a:xfrm rot="0">
            <a:off x="1017764" y="1856287"/>
            <a:ext cx="3789003" cy="797936"/>
            <a:chOff x="0" y="0"/>
            <a:chExt cx="1203989" cy="253551"/>
          </a:xfrm>
        </p:grpSpPr>
        <p:sp>
          <p:nvSpPr>
            <p:cNvPr name="Freeform 9" id="9"/>
            <p:cNvSpPr/>
            <p:nvPr/>
          </p:nvSpPr>
          <p:spPr>
            <a:xfrm flipH="false" flipV="false" rot="0">
              <a:off x="0" y="0"/>
              <a:ext cx="1203989" cy="253551"/>
            </a:xfrm>
            <a:custGeom>
              <a:avLst/>
              <a:gdLst/>
              <a:ahLst/>
              <a:cxnLst/>
              <a:rect r="r" b="b" t="t" l="l"/>
              <a:pathLst>
                <a:path h="253551" w="1203989">
                  <a:moveTo>
                    <a:pt x="126776" y="0"/>
                  </a:moveTo>
                  <a:lnTo>
                    <a:pt x="1077214" y="0"/>
                  </a:lnTo>
                  <a:cubicBezTo>
                    <a:pt x="1110837" y="0"/>
                    <a:pt x="1143082" y="13357"/>
                    <a:pt x="1166857" y="37132"/>
                  </a:cubicBezTo>
                  <a:cubicBezTo>
                    <a:pt x="1190633" y="60907"/>
                    <a:pt x="1203989" y="93153"/>
                    <a:pt x="1203989" y="126776"/>
                  </a:cubicBezTo>
                  <a:lnTo>
                    <a:pt x="1203989" y="126776"/>
                  </a:lnTo>
                  <a:cubicBezTo>
                    <a:pt x="1203989" y="196792"/>
                    <a:pt x="1147230" y="253551"/>
                    <a:pt x="1077214" y="253551"/>
                  </a:cubicBezTo>
                  <a:lnTo>
                    <a:pt x="126776" y="253551"/>
                  </a:lnTo>
                  <a:cubicBezTo>
                    <a:pt x="93153" y="253551"/>
                    <a:pt x="60907" y="240194"/>
                    <a:pt x="37132" y="216419"/>
                  </a:cubicBezTo>
                  <a:cubicBezTo>
                    <a:pt x="13357" y="192644"/>
                    <a:pt x="0" y="160399"/>
                    <a:pt x="0" y="126776"/>
                  </a:cubicBezTo>
                  <a:lnTo>
                    <a:pt x="0" y="126776"/>
                  </a:lnTo>
                  <a:cubicBezTo>
                    <a:pt x="0" y="93153"/>
                    <a:pt x="13357" y="60907"/>
                    <a:pt x="37132" y="37132"/>
                  </a:cubicBezTo>
                  <a:cubicBezTo>
                    <a:pt x="60907" y="13357"/>
                    <a:pt x="93153" y="0"/>
                    <a:pt x="126776" y="0"/>
                  </a:cubicBezTo>
                  <a:close/>
                </a:path>
              </a:pathLst>
            </a:custGeom>
            <a:solidFill>
              <a:srgbClr val="000000"/>
            </a:solidFill>
            <a:ln w="38100" cap="rnd">
              <a:solidFill>
                <a:srgbClr val="000000"/>
              </a:solidFill>
              <a:prstDash val="solid"/>
              <a:round/>
            </a:ln>
          </p:spPr>
        </p:sp>
        <p:sp>
          <p:nvSpPr>
            <p:cNvPr name="TextBox 10" id="10"/>
            <p:cNvSpPr txBox="true"/>
            <p:nvPr/>
          </p:nvSpPr>
          <p:spPr>
            <a:xfrm>
              <a:off x="0" y="-47625"/>
              <a:ext cx="1203989" cy="301176"/>
            </a:xfrm>
            <a:prstGeom prst="rect">
              <a:avLst/>
            </a:prstGeom>
          </p:spPr>
          <p:txBody>
            <a:bodyPr anchor="ctr" rtlCol="false" tIns="50800" lIns="50800" bIns="50800" rIns="50800"/>
            <a:lstStyle/>
            <a:p>
              <a:pPr algn="ctr">
                <a:lnSpc>
                  <a:spcPts val="3210"/>
                </a:lnSpc>
              </a:pPr>
            </a:p>
          </p:txBody>
        </p:sp>
      </p:grpSp>
      <p:grpSp>
        <p:nvGrpSpPr>
          <p:cNvPr name="Group 11" id="11"/>
          <p:cNvGrpSpPr/>
          <p:nvPr/>
        </p:nvGrpSpPr>
        <p:grpSpPr>
          <a:xfrm rot="0">
            <a:off x="5619944" y="1686111"/>
            <a:ext cx="4227744" cy="5060278"/>
            <a:chOff x="0" y="0"/>
            <a:chExt cx="1343403" cy="1607948"/>
          </a:xfrm>
        </p:grpSpPr>
        <p:sp>
          <p:nvSpPr>
            <p:cNvPr name="Freeform 12" id="12"/>
            <p:cNvSpPr/>
            <p:nvPr/>
          </p:nvSpPr>
          <p:spPr>
            <a:xfrm flipH="false" flipV="false" rot="0">
              <a:off x="0" y="0"/>
              <a:ext cx="1343403" cy="1607948"/>
            </a:xfrm>
            <a:custGeom>
              <a:avLst/>
              <a:gdLst/>
              <a:ahLst/>
              <a:cxnLst/>
              <a:rect r="r" b="b" t="t" l="l"/>
              <a:pathLst>
                <a:path h="1607948" w="1343403">
                  <a:moveTo>
                    <a:pt x="0" y="0"/>
                  </a:moveTo>
                  <a:lnTo>
                    <a:pt x="1343403" y="0"/>
                  </a:lnTo>
                  <a:lnTo>
                    <a:pt x="1343403" y="1607948"/>
                  </a:lnTo>
                  <a:lnTo>
                    <a:pt x="0" y="1607948"/>
                  </a:lnTo>
                  <a:close/>
                </a:path>
              </a:pathLst>
            </a:custGeom>
            <a:solidFill>
              <a:srgbClr val="000000">
                <a:alpha val="0"/>
              </a:srgbClr>
            </a:solidFill>
            <a:ln w="38100" cap="sq">
              <a:solidFill>
                <a:srgbClr val="000000"/>
              </a:solidFill>
              <a:prstDash val="solid"/>
              <a:miter/>
            </a:ln>
          </p:spPr>
        </p:sp>
        <p:sp>
          <p:nvSpPr>
            <p:cNvPr name="TextBox 13" id="13"/>
            <p:cNvSpPr txBox="true"/>
            <p:nvPr/>
          </p:nvSpPr>
          <p:spPr>
            <a:xfrm>
              <a:off x="0" y="-47625"/>
              <a:ext cx="1343403" cy="1655573"/>
            </a:xfrm>
            <a:prstGeom prst="rect">
              <a:avLst/>
            </a:prstGeom>
          </p:spPr>
          <p:txBody>
            <a:bodyPr anchor="ctr" rtlCol="false" tIns="50800" lIns="50800" bIns="50800" rIns="50800"/>
            <a:lstStyle/>
            <a:p>
              <a:pPr algn="ctr">
                <a:lnSpc>
                  <a:spcPts val="3210"/>
                </a:lnSpc>
              </a:pPr>
            </a:p>
          </p:txBody>
        </p:sp>
      </p:grpSp>
      <p:grpSp>
        <p:nvGrpSpPr>
          <p:cNvPr name="Group 14" id="14"/>
          <p:cNvGrpSpPr/>
          <p:nvPr/>
        </p:nvGrpSpPr>
        <p:grpSpPr>
          <a:xfrm rot="0">
            <a:off x="5839315" y="1868051"/>
            <a:ext cx="3789003" cy="797936"/>
            <a:chOff x="0" y="0"/>
            <a:chExt cx="1203989" cy="253551"/>
          </a:xfrm>
        </p:grpSpPr>
        <p:sp>
          <p:nvSpPr>
            <p:cNvPr name="Freeform 15" id="15"/>
            <p:cNvSpPr/>
            <p:nvPr/>
          </p:nvSpPr>
          <p:spPr>
            <a:xfrm flipH="false" flipV="false" rot="0">
              <a:off x="0" y="0"/>
              <a:ext cx="1203989" cy="253551"/>
            </a:xfrm>
            <a:custGeom>
              <a:avLst/>
              <a:gdLst/>
              <a:ahLst/>
              <a:cxnLst/>
              <a:rect r="r" b="b" t="t" l="l"/>
              <a:pathLst>
                <a:path h="253551" w="1203989">
                  <a:moveTo>
                    <a:pt x="126776" y="0"/>
                  </a:moveTo>
                  <a:lnTo>
                    <a:pt x="1077214" y="0"/>
                  </a:lnTo>
                  <a:cubicBezTo>
                    <a:pt x="1110837" y="0"/>
                    <a:pt x="1143082" y="13357"/>
                    <a:pt x="1166857" y="37132"/>
                  </a:cubicBezTo>
                  <a:cubicBezTo>
                    <a:pt x="1190633" y="60907"/>
                    <a:pt x="1203989" y="93153"/>
                    <a:pt x="1203989" y="126776"/>
                  </a:cubicBezTo>
                  <a:lnTo>
                    <a:pt x="1203989" y="126776"/>
                  </a:lnTo>
                  <a:cubicBezTo>
                    <a:pt x="1203989" y="196792"/>
                    <a:pt x="1147230" y="253551"/>
                    <a:pt x="1077214" y="253551"/>
                  </a:cubicBezTo>
                  <a:lnTo>
                    <a:pt x="126776" y="253551"/>
                  </a:lnTo>
                  <a:cubicBezTo>
                    <a:pt x="93153" y="253551"/>
                    <a:pt x="60907" y="240194"/>
                    <a:pt x="37132" y="216419"/>
                  </a:cubicBezTo>
                  <a:cubicBezTo>
                    <a:pt x="13357" y="192644"/>
                    <a:pt x="0" y="160399"/>
                    <a:pt x="0" y="126776"/>
                  </a:cubicBezTo>
                  <a:lnTo>
                    <a:pt x="0" y="126776"/>
                  </a:lnTo>
                  <a:cubicBezTo>
                    <a:pt x="0" y="93153"/>
                    <a:pt x="13357" y="60907"/>
                    <a:pt x="37132" y="37132"/>
                  </a:cubicBezTo>
                  <a:cubicBezTo>
                    <a:pt x="60907" y="13357"/>
                    <a:pt x="93153" y="0"/>
                    <a:pt x="126776" y="0"/>
                  </a:cubicBezTo>
                  <a:close/>
                </a:path>
              </a:pathLst>
            </a:custGeom>
            <a:solidFill>
              <a:srgbClr val="000000"/>
            </a:solidFill>
            <a:ln w="38100" cap="rnd">
              <a:solidFill>
                <a:srgbClr val="000000"/>
              </a:solidFill>
              <a:prstDash val="solid"/>
              <a:round/>
            </a:ln>
          </p:spPr>
        </p:sp>
        <p:sp>
          <p:nvSpPr>
            <p:cNvPr name="TextBox 16" id="16"/>
            <p:cNvSpPr txBox="true"/>
            <p:nvPr/>
          </p:nvSpPr>
          <p:spPr>
            <a:xfrm>
              <a:off x="0" y="-47625"/>
              <a:ext cx="1203989" cy="301176"/>
            </a:xfrm>
            <a:prstGeom prst="rect">
              <a:avLst/>
            </a:prstGeom>
          </p:spPr>
          <p:txBody>
            <a:bodyPr anchor="ctr" rtlCol="false" tIns="50800" lIns="50800" bIns="50800" rIns="50800"/>
            <a:lstStyle/>
            <a:p>
              <a:pPr algn="ctr">
                <a:lnSpc>
                  <a:spcPts val="3210"/>
                </a:lnSpc>
              </a:pPr>
            </a:p>
          </p:txBody>
        </p:sp>
      </p:grpSp>
      <p:sp>
        <p:nvSpPr>
          <p:cNvPr name="Freeform 17" id="17"/>
          <p:cNvSpPr/>
          <p:nvPr/>
        </p:nvSpPr>
        <p:spPr>
          <a:xfrm flipH="false" flipV="false" rot="0">
            <a:off x="10295248" y="1686111"/>
            <a:ext cx="7869922" cy="5036750"/>
          </a:xfrm>
          <a:custGeom>
            <a:avLst/>
            <a:gdLst/>
            <a:ahLst/>
            <a:cxnLst/>
            <a:rect r="r" b="b" t="t" l="l"/>
            <a:pathLst>
              <a:path h="5036750" w="7869922">
                <a:moveTo>
                  <a:pt x="0" y="0"/>
                </a:moveTo>
                <a:lnTo>
                  <a:pt x="7869922" y="0"/>
                </a:lnTo>
                <a:lnTo>
                  <a:pt x="7869922" y="5036750"/>
                </a:lnTo>
                <a:lnTo>
                  <a:pt x="0" y="5036750"/>
                </a:lnTo>
                <a:lnTo>
                  <a:pt x="0" y="0"/>
                </a:lnTo>
                <a:close/>
              </a:path>
            </a:pathLst>
          </a:custGeom>
          <a:blipFill>
            <a:blip r:embed="rId2"/>
            <a:stretch>
              <a:fillRect l="0" t="0" r="0" b="0"/>
            </a:stretch>
          </a:blipFill>
        </p:spPr>
      </p:sp>
      <p:sp>
        <p:nvSpPr>
          <p:cNvPr name="TextBox 18" id="18"/>
          <p:cNvSpPr txBox="true"/>
          <p:nvPr/>
        </p:nvSpPr>
        <p:spPr>
          <a:xfrm rot="0">
            <a:off x="-889724" y="331385"/>
            <a:ext cx="9688310" cy="521986"/>
          </a:xfrm>
          <a:prstGeom prst="rect">
            <a:avLst/>
          </a:prstGeom>
        </p:spPr>
        <p:txBody>
          <a:bodyPr anchor="t" rtlCol="false" tIns="0" lIns="0" bIns="0" rIns="0">
            <a:spAutoFit/>
          </a:bodyPr>
          <a:lstStyle/>
          <a:p>
            <a:pPr algn="ctr">
              <a:lnSpc>
                <a:spcPts val="3840"/>
              </a:lnSpc>
            </a:pPr>
            <a:r>
              <a:rPr lang="en-US" sz="4000" b="true">
                <a:solidFill>
                  <a:srgbClr val="18253B"/>
                </a:solidFill>
                <a:latin typeface="Livvic Bold"/>
                <a:ea typeface="Livvic Bold"/>
                <a:cs typeface="Livvic Bold"/>
                <a:sym typeface="Livvic Bold"/>
              </a:rPr>
              <a:t>KNN (K- Nearest Neighbour)</a:t>
            </a:r>
          </a:p>
        </p:txBody>
      </p:sp>
      <p:sp>
        <p:nvSpPr>
          <p:cNvPr name="TextBox 19" id="19"/>
          <p:cNvSpPr txBox="true"/>
          <p:nvPr/>
        </p:nvSpPr>
        <p:spPr>
          <a:xfrm rot="0">
            <a:off x="1581005" y="2109297"/>
            <a:ext cx="2662522" cy="349067"/>
          </a:xfrm>
          <a:prstGeom prst="rect">
            <a:avLst/>
          </a:prstGeom>
        </p:spPr>
        <p:txBody>
          <a:bodyPr anchor="t" rtlCol="false" tIns="0" lIns="0" bIns="0" rIns="0">
            <a:spAutoFit/>
          </a:bodyPr>
          <a:lstStyle/>
          <a:p>
            <a:pPr algn="ctr">
              <a:lnSpc>
                <a:spcPts val="2623"/>
              </a:lnSpc>
            </a:pPr>
            <a:r>
              <a:rPr lang="en-US" b="true" sz="2650" spc="-66">
                <a:solidFill>
                  <a:srgbClr val="FBEAD8"/>
                </a:solidFill>
                <a:latin typeface="Cooper BT Bold"/>
                <a:ea typeface="Cooper BT Bold"/>
                <a:cs typeface="Cooper BT Bold"/>
                <a:sym typeface="Cooper BT Bold"/>
              </a:rPr>
              <a:t>INFORMATION</a:t>
            </a:r>
          </a:p>
        </p:txBody>
      </p:sp>
      <p:sp>
        <p:nvSpPr>
          <p:cNvPr name="TextBox 20" id="20"/>
          <p:cNvSpPr txBox="true"/>
          <p:nvPr/>
        </p:nvSpPr>
        <p:spPr>
          <a:xfrm rot="0">
            <a:off x="989283" y="2927810"/>
            <a:ext cx="3602896" cy="1488087"/>
          </a:xfrm>
          <a:prstGeom prst="rect">
            <a:avLst/>
          </a:prstGeom>
        </p:spPr>
        <p:txBody>
          <a:bodyPr anchor="t" rtlCol="false" tIns="0" lIns="0" bIns="0" rIns="0">
            <a:spAutoFit/>
          </a:bodyPr>
          <a:lstStyle/>
          <a:p>
            <a:pPr algn="just" marL="311376" indent="-155688" lvl="1">
              <a:lnSpc>
                <a:spcPts val="1687"/>
              </a:lnSpc>
              <a:buFont typeface="Arial"/>
              <a:buChar char="•"/>
            </a:pPr>
            <a:r>
              <a:rPr lang="en-US" b="true" sz="1442" spc="-21">
                <a:solidFill>
                  <a:srgbClr val="000000"/>
                </a:solidFill>
                <a:latin typeface="Cooper BT Bold"/>
                <a:ea typeface="Cooper BT Bold"/>
                <a:cs typeface="Cooper BT Bold"/>
                <a:sym typeface="Cooper BT Bold"/>
              </a:rPr>
              <a:t>VInstance-Based Learning: </a:t>
            </a:r>
            <a:r>
              <a:rPr lang="en-US" sz="1442" spc="-21">
                <a:solidFill>
                  <a:srgbClr val="000000"/>
                </a:solidFill>
                <a:latin typeface="Cooper BT Light"/>
                <a:ea typeface="Cooper BT Light"/>
                <a:cs typeface="Cooper BT Light"/>
                <a:sym typeface="Cooper BT Light"/>
              </a:rPr>
              <a:t>K-Nearest Neighbors (KNN) is a simple, instance-based algorithm used for both classification and regression. It doesn’t learn a model from the training data; instead, it memorizes the training instances to make predictions.</a:t>
            </a:r>
          </a:p>
        </p:txBody>
      </p:sp>
      <p:sp>
        <p:nvSpPr>
          <p:cNvPr name="TextBox 21" id="21"/>
          <p:cNvSpPr txBox="true"/>
          <p:nvPr/>
        </p:nvSpPr>
        <p:spPr>
          <a:xfrm rot="0">
            <a:off x="1028700" y="4692122"/>
            <a:ext cx="3602896" cy="1701247"/>
          </a:xfrm>
          <a:prstGeom prst="rect">
            <a:avLst/>
          </a:prstGeom>
        </p:spPr>
        <p:txBody>
          <a:bodyPr anchor="t" rtlCol="false" tIns="0" lIns="0" bIns="0" rIns="0">
            <a:spAutoFit/>
          </a:bodyPr>
          <a:lstStyle/>
          <a:p>
            <a:pPr algn="just" marL="311376" indent="-155688" lvl="1">
              <a:lnSpc>
                <a:spcPts val="1687"/>
              </a:lnSpc>
              <a:buFont typeface="Arial"/>
              <a:buChar char="•"/>
            </a:pPr>
            <a:r>
              <a:rPr lang="en-US" b="true" sz="1442" spc="-21">
                <a:solidFill>
                  <a:srgbClr val="000000"/>
                </a:solidFill>
                <a:latin typeface="Cooper BT Bold"/>
                <a:ea typeface="Cooper BT Bold"/>
                <a:cs typeface="Cooper BT Bold"/>
                <a:sym typeface="Cooper BT Bold"/>
              </a:rPr>
              <a:t>Similarity-Based Prediction: </a:t>
            </a:r>
            <a:r>
              <a:rPr lang="en-US" sz="1442" spc="-21">
                <a:solidFill>
                  <a:srgbClr val="000000"/>
                </a:solidFill>
                <a:latin typeface="Cooper BT Light"/>
                <a:ea typeface="Cooper BT Light"/>
                <a:cs typeface="Cooper BT Light"/>
                <a:sym typeface="Cooper BT Light"/>
              </a:rPr>
              <a:t>For a new data point, KNN identifies the K closest data points (neighbors) from the training set based on a distance metric (e.g., Euclidean distance). The prediction is made based on the majority label (for classification) or the average of neighbors' values (for regression).</a:t>
            </a:r>
          </a:p>
        </p:txBody>
      </p:sp>
      <p:sp>
        <p:nvSpPr>
          <p:cNvPr name="TextBox 22" id="22"/>
          <p:cNvSpPr txBox="true"/>
          <p:nvPr/>
        </p:nvSpPr>
        <p:spPr>
          <a:xfrm rot="0">
            <a:off x="6402555" y="2121061"/>
            <a:ext cx="2662522" cy="349067"/>
          </a:xfrm>
          <a:prstGeom prst="rect">
            <a:avLst/>
          </a:prstGeom>
        </p:spPr>
        <p:txBody>
          <a:bodyPr anchor="t" rtlCol="false" tIns="0" lIns="0" bIns="0" rIns="0">
            <a:spAutoFit/>
          </a:bodyPr>
          <a:lstStyle/>
          <a:p>
            <a:pPr algn="ctr">
              <a:lnSpc>
                <a:spcPts val="2623"/>
              </a:lnSpc>
            </a:pPr>
            <a:r>
              <a:rPr lang="en-US" b="true" sz="2650" spc="-66">
                <a:solidFill>
                  <a:srgbClr val="FBEAD8"/>
                </a:solidFill>
                <a:latin typeface="Cooper BT Bold"/>
                <a:ea typeface="Cooper BT Bold"/>
                <a:cs typeface="Cooper BT Bold"/>
                <a:sym typeface="Cooper BT Bold"/>
              </a:rPr>
              <a:t>INFORMATION</a:t>
            </a:r>
          </a:p>
        </p:txBody>
      </p:sp>
      <p:sp>
        <p:nvSpPr>
          <p:cNvPr name="TextBox 23" id="23"/>
          <p:cNvSpPr txBox="true"/>
          <p:nvPr/>
        </p:nvSpPr>
        <p:spPr>
          <a:xfrm rot="0">
            <a:off x="5810834" y="2939574"/>
            <a:ext cx="3602896" cy="1462820"/>
          </a:xfrm>
          <a:prstGeom prst="rect">
            <a:avLst/>
          </a:prstGeom>
        </p:spPr>
        <p:txBody>
          <a:bodyPr anchor="t" rtlCol="false" tIns="0" lIns="0" bIns="0" rIns="0">
            <a:spAutoFit/>
          </a:bodyPr>
          <a:lstStyle/>
          <a:p>
            <a:pPr algn="just" marL="311377" indent="-155688" lvl="1">
              <a:lnSpc>
                <a:spcPts val="1687"/>
              </a:lnSpc>
              <a:buFont typeface="Arial"/>
              <a:buChar char="•"/>
            </a:pPr>
            <a:r>
              <a:rPr lang="en-US" b="true" sz="1442" spc="-21">
                <a:solidFill>
                  <a:srgbClr val="000000"/>
                </a:solidFill>
                <a:latin typeface="Cooper BT Bold"/>
                <a:ea typeface="Cooper BT Bold"/>
                <a:cs typeface="Cooper BT Bold"/>
                <a:sym typeface="Cooper BT Bold"/>
              </a:rPr>
              <a:t>Hyperparameter K:</a:t>
            </a:r>
            <a:r>
              <a:rPr lang="en-US" sz="1442" spc="-21">
                <a:solidFill>
                  <a:srgbClr val="000000"/>
                </a:solidFill>
                <a:latin typeface="Cooper BT Light"/>
                <a:ea typeface="Cooper BT Light"/>
                <a:cs typeface="Cooper BT Light"/>
                <a:sym typeface="Cooper BT Light"/>
              </a:rPr>
              <a:t> The number of neighbors, K, is a critical parameter that controls the algorithm’s behavior. Small Kvalues make the model sensitive (can lead to overfitting), while large K values make it more generalized (can lead to underfitting).</a:t>
            </a:r>
          </a:p>
        </p:txBody>
      </p:sp>
      <p:sp>
        <p:nvSpPr>
          <p:cNvPr name="TextBox 24" id="24"/>
          <p:cNvSpPr txBox="true"/>
          <p:nvPr/>
        </p:nvSpPr>
        <p:spPr>
          <a:xfrm rot="0">
            <a:off x="5946609" y="4703886"/>
            <a:ext cx="3574415" cy="1462776"/>
          </a:xfrm>
          <a:prstGeom prst="rect">
            <a:avLst/>
          </a:prstGeom>
        </p:spPr>
        <p:txBody>
          <a:bodyPr anchor="t" rtlCol="false" tIns="0" lIns="0" bIns="0" rIns="0">
            <a:spAutoFit/>
          </a:bodyPr>
          <a:lstStyle/>
          <a:p>
            <a:pPr algn="just" marL="308916" indent="-154458" lvl="1">
              <a:lnSpc>
                <a:spcPts val="1674"/>
              </a:lnSpc>
              <a:buFont typeface="Arial"/>
              <a:buChar char="•"/>
            </a:pPr>
            <a:r>
              <a:rPr lang="en-US" b="true" sz="1430" spc="-21">
                <a:solidFill>
                  <a:srgbClr val="000000"/>
                </a:solidFill>
                <a:latin typeface="Cooper BT Bold"/>
                <a:ea typeface="Cooper BT Bold"/>
                <a:cs typeface="Cooper BT Bold"/>
                <a:sym typeface="Cooper BT Bold"/>
              </a:rPr>
              <a:t>Non-Parametric and Lazy: </a:t>
            </a:r>
            <a:r>
              <a:rPr lang="en-US" sz="1430" spc="-21">
                <a:solidFill>
                  <a:srgbClr val="000000"/>
                </a:solidFill>
                <a:latin typeface="Cooper BT Light"/>
                <a:ea typeface="Cooper BT Light"/>
                <a:cs typeface="Cooper BT Light"/>
                <a:sym typeface="Cooper BT Light"/>
              </a:rPr>
              <a:t>KNN makes no assumptions about data distribution and doesn’t compute until prediction time, making it memory-intensive and slower on large datasets since it searches the entire dataset for each prediction</a:t>
            </a:r>
          </a:p>
        </p:txBody>
      </p:sp>
      <p:sp>
        <p:nvSpPr>
          <p:cNvPr name="TextBox 25" id="25"/>
          <p:cNvSpPr txBox="true"/>
          <p:nvPr/>
        </p:nvSpPr>
        <p:spPr>
          <a:xfrm rot="0">
            <a:off x="0" y="6955939"/>
            <a:ext cx="18288000" cy="19900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We initially set k=15 for our KNN model but observed peak accuracy at k=1 on the training set, raising concerns about overfitting. To investigate, we performed 5-fold cross-validation, where the dataset is split into five parts, each serving once as the validation set while the other four are used for training. This approach allows every data point to be used for both training and validation.</a:t>
            </a:r>
          </a:p>
          <a:p>
            <a:pPr algn="ctr">
              <a:lnSpc>
                <a:spcPts val="2659"/>
              </a:lnSpc>
              <a:spcBef>
                <a:spcPct val="0"/>
              </a:spcBef>
            </a:pPr>
            <a:r>
              <a:rPr lang="en-US" sz="1899">
                <a:solidFill>
                  <a:srgbClr val="000000"/>
                </a:solidFill>
                <a:latin typeface="Canva Sans"/>
                <a:ea typeface="Canva Sans"/>
                <a:cs typeface="Canva Sans"/>
                <a:sym typeface="Canva Sans"/>
              </a:rPr>
              <a:t>Cross-validation confirmed that the highest accuracy of 80.2% was consistently achieved at k=1 indicating the model generalizes well and is not simply overfitting the training set.</a:t>
            </a:r>
          </a:p>
          <a:p>
            <a:pPr algn="ctr">
              <a:lnSpc>
                <a:spcPts val="265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965349"/>
            <a:ext cx="18288000" cy="1321651"/>
            <a:chOff x="0" y="0"/>
            <a:chExt cx="4816593" cy="348089"/>
          </a:xfrm>
        </p:grpSpPr>
        <p:sp>
          <p:nvSpPr>
            <p:cNvPr name="Freeform 3" id="3"/>
            <p:cNvSpPr/>
            <p:nvPr/>
          </p:nvSpPr>
          <p:spPr>
            <a:xfrm flipH="false" flipV="false" rot="0">
              <a:off x="0" y="0"/>
              <a:ext cx="4816592" cy="348089"/>
            </a:xfrm>
            <a:custGeom>
              <a:avLst/>
              <a:gdLst/>
              <a:ahLst/>
              <a:cxnLst/>
              <a:rect r="r" b="b" t="t" l="l"/>
              <a:pathLst>
                <a:path h="348089" w="4816592">
                  <a:moveTo>
                    <a:pt x="0" y="0"/>
                  </a:moveTo>
                  <a:lnTo>
                    <a:pt x="4816592" y="0"/>
                  </a:lnTo>
                  <a:lnTo>
                    <a:pt x="4816592" y="348089"/>
                  </a:lnTo>
                  <a:lnTo>
                    <a:pt x="0" y="348089"/>
                  </a:lnTo>
                  <a:close/>
                </a:path>
              </a:pathLst>
            </a:custGeom>
            <a:solidFill>
              <a:srgbClr val="565FA6"/>
            </a:solidFill>
          </p:spPr>
        </p:sp>
        <p:sp>
          <p:nvSpPr>
            <p:cNvPr name="TextBox 4" id="4"/>
            <p:cNvSpPr txBox="true"/>
            <p:nvPr/>
          </p:nvSpPr>
          <p:spPr>
            <a:xfrm>
              <a:off x="0" y="-38100"/>
              <a:ext cx="4816593" cy="38618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843662" y="193201"/>
            <a:ext cx="9688310" cy="521986"/>
          </a:xfrm>
          <a:prstGeom prst="rect">
            <a:avLst/>
          </a:prstGeom>
        </p:spPr>
        <p:txBody>
          <a:bodyPr anchor="t" rtlCol="false" tIns="0" lIns="0" bIns="0" rIns="0">
            <a:spAutoFit/>
          </a:bodyPr>
          <a:lstStyle/>
          <a:p>
            <a:pPr algn="ctr">
              <a:lnSpc>
                <a:spcPts val="3840"/>
              </a:lnSpc>
            </a:pPr>
            <a:r>
              <a:rPr lang="en-US" sz="4000" b="true">
                <a:solidFill>
                  <a:srgbClr val="18253B"/>
                </a:solidFill>
                <a:latin typeface="Livvic Bold"/>
                <a:ea typeface="Livvic Bold"/>
                <a:cs typeface="Livvic Bold"/>
                <a:sym typeface="Livvic Bold"/>
              </a:rPr>
              <a:t>SVM (Support Vector Machine)</a:t>
            </a:r>
          </a:p>
        </p:txBody>
      </p:sp>
      <p:sp>
        <p:nvSpPr>
          <p:cNvPr name="Freeform 6" id="6"/>
          <p:cNvSpPr/>
          <p:nvPr/>
        </p:nvSpPr>
        <p:spPr>
          <a:xfrm flipH="false" flipV="false" rot="-6262171">
            <a:off x="1849329" y="1906829"/>
            <a:ext cx="5645299" cy="5911308"/>
          </a:xfrm>
          <a:custGeom>
            <a:avLst/>
            <a:gdLst/>
            <a:ahLst/>
            <a:cxnLst/>
            <a:rect r="r" b="b" t="t" l="l"/>
            <a:pathLst>
              <a:path h="5911308" w="5645299">
                <a:moveTo>
                  <a:pt x="0" y="0"/>
                </a:moveTo>
                <a:lnTo>
                  <a:pt x="5645299" y="0"/>
                </a:lnTo>
                <a:lnTo>
                  <a:pt x="5645299" y="5911308"/>
                </a:lnTo>
                <a:lnTo>
                  <a:pt x="0" y="5911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441338">
            <a:off x="746945" y="3071531"/>
            <a:ext cx="4107774" cy="2578360"/>
          </a:xfrm>
          <a:custGeom>
            <a:avLst/>
            <a:gdLst/>
            <a:ahLst/>
            <a:cxnLst/>
            <a:rect r="r" b="b" t="t" l="l"/>
            <a:pathLst>
              <a:path h="2578360" w="4107774">
                <a:moveTo>
                  <a:pt x="4107774" y="0"/>
                </a:moveTo>
                <a:lnTo>
                  <a:pt x="0" y="0"/>
                </a:lnTo>
                <a:lnTo>
                  <a:pt x="0" y="2578360"/>
                </a:lnTo>
                <a:lnTo>
                  <a:pt x="4107774" y="2578360"/>
                </a:lnTo>
                <a:lnTo>
                  <a:pt x="410777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441338">
            <a:off x="4820127" y="3071531"/>
            <a:ext cx="4107774" cy="2578360"/>
          </a:xfrm>
          <a:custGeom>
            <a:avLst/>
            <a:gdLst/>
            <a:ahLst/>
            <a:cxnLst/>
            <a:rect r="r" b="b" t="t" l="l"/>
            <a:pathLst>
              <a:path h="2578360" w="4107774">
                <a:moveTo>
                  <a:pt x="4107774" y="0"/>
                </a:moveTo>
                <a:lnTo>
                  <a:pt x="0" y="0"/>
                </a:lnTo>
                <a:lnTo>
                  <a:pt x="0" y="2578360"/>
                </a:lnTo>
                <a:lnTo>
                  <a:pt x="4107774" y="2578360"/>
                </a:lnTo>
                <a:lnTo>
                  <a:pt x="410777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441338">
            <a:off x="1319510" y="967533"/>
            <a:ext cx="4107774" cy="2578360"/>
          </a:xfrm>
          <a:custGeom>
            <a:avLst/>
            <a:gdLst/>
            <a:ahLst/>
            <a:cxnLst/>
            <a:rect r="r" b="b" t="t" l="l"/>
            <a:pathLst>
              <a:path h="2578360" w="4107774">
                <a:moveTo>
                  <a:pt x="4107774" y="0"/>
                </a:moveTo>
                <a:lnTo>
                  <a:pt x="0" y="0"/>
                </a:lnTo>
                <a:lnTo>
                  <a:pt x="0" y="2578360"/>
                </a:lnTo>
                <a:lnTo>
                  <a:pt x="4107774" y="2578360"/>
                </a:lnTo>
                <a:lnTo>
                  <a:pt x="410777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441338">
            <a:off x="5392692" y="967533"/>
            <a:ext cx="4107774" cy="2578360"/>
          </a:xfrm>
          <a:custGeom>
            <a:avLst/>
            <a:gdLst/>
            <a:ahLst/>
            <a:cxnLst/>
            <a:rect r="r" b="b" t="t" l="l"/>
            <a:pathLst>
              <a:path h="2578360" w="4107774">
                <a:moveTo>
                  <a:pt x="4107774" y="0"/>
                </a:moveTo>
                <a:lnTo>
                  <a:pt x="0" y="0"/>
                </a:lnTo>
                <a:lnTo>
                  <a:pt x="0" y="2578360"/>
                </a:lnTo>
                <a:lnTo>
                  <a:pt x="4107774" y="2578360"/>
                </a:lnTo>
                <a:lnTo>
                  <a:pt x="410777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330279" y="2279515"/>
            <a:ext cx="323385" cy="715199"/>
            <a:chOff x="0" y="0"/>
            <a:chExt cx="744220" cy="1645920"/>
          </a:xfrm>
        </p:grpSpPr>
        <p:sp>
          <p:nvSpPr>
            <p:cNvPr name="Freeform 12" id="12"/>
            <p:cNvSpPr/>
            <p:nvPr/>
          </p:nvSpPr>
          <p:spPr>
            <a:xfrm flipH="false" flipV="false" rot="0">
              <a:off x="48790" y="50564"/>
              <a:ext cx="644826" cy="1544747"/>
            </a:xfrm>
            <a:custGeom>
              <a:avLst/>
              <a:gdLst/>
              <a:ahLst/>
              <a:cxnLst/>
              <a:rect r="r" b="b" t="t" l="l"/>
              <a:pathLst>
                <a:path h="1544747" w="644826">
                  <a:moveTo>
                    <a:pt x="167110" y="65006"/>
                  </a:moveTo>
                  <a:cubicBezTo>
                    <a:pt x="281410" y="550146"/>
                    <a:pt x="322050" y="688576"/>
                    <a:pt x="357610" y="782556"/>
                  </a:cubicBezTo>
                  <a:cubicBezTo>
                    <a:pt x="381740" y="847326"/>
                    <a:pt x="410950" y="886696"/>
                    <a:pt x="431270" y="943846"/>
                  </a:cubicBezTo>
                  <a:cubicBezTo>
                    <a:pt x="452860" y="1007346"/>
                    <a:pt x="456670" y="1083546"/>
                    <a:pt x="478260" y="1147046"/>
                  </a:cubicBezTo>
                  <a:cubicBezTo>
                    <a:pt x="498580" y="1206736"/>
                    <a:pt x="525250" y="1268966"/>
                    <a:pt x="554460" y="1314686"/>
                  </a:cubicBezTo>
                  <a:cubicBezTo>
                    <a:pt x="578590" y="1351516"/>
                    <a:pt x="621770" y="1383266"/>
                    <a:pt x="634470" y="1406126"/>
                  </a:cubicBezTo>
                  <a:cubicBezTo>
                    <a:pt x="640820" y="1417556"/>
                    <a:pt x="643360" y="1423906"/>
                    <a:pt x="644630" y="1435336"/>
                  </a:cubicBezTo>
                  <a:cubicBezTo>
                    <a:pt x="645900" y="1450576"/>
                    <a:pt x="640820" y="1479786"/>
                    <a:pt x="634470" y="1495026"/>
                  </a:cubicBezTo>
                  <a:cubicBezTo>
                    <a:pt x="630660" y="1505186"/>
                    <a:pt x="625580" y="1511536"/>
                    <a:pt x="616690" y="1519156"/>
                  </a:cubicBezTo>
                  <a:cubicBezTo>
                    <a:pt x="603990" y="1529316"/>
                    <a:pt x="579860" y="1542016"/>
                    <a:pt x="560810" y="1544556"/>
                  </a:cubicBezTo>
                  <a:cubicBezTo>
                    <a:pt x="543030" y="1545826"/>
                    <a:pt x="518900" y="1540746"/>
                    <a:pt x="502390" y="1530586"/>
                  </a:cubicBezTo>
                  <a:cubicBezTo>
                    <a:pt x="485880" y="1521696"/>
                    <a:pt x="470640" y="1500106"/>
                    <a:pt x="463020" y="1484866"/>
                  </a:cubicBezTo>
                  <a:cubicBezTo>
                    <a:pt x="457940" y="1474706"/>
                    <a:pt x="456670" y="1467086"/>
                    <a:pt x="456670" y="1455656"/>
                  </a:cubicBezTo>
                  <a:cubicBezTo>
                    <a:pt x="457940" y="1439146"/>
                    <a:pt x="461750" y="1412476"/>
                    <a:pt x="473180" y="1397236"/>
                  </a:cubicBezTo>
                  <a:cubicBezTo>
                    <a:pt x="483340" y="1380726"/>
                    <a:pt x="506200" y="1366756"/>
                    <a:pt x="521440" y="1360406"/>
                  </a:cubicBezTo>
                  <a:cubicBezTo>
                    <a:pt x="531600" y="1356596"/>
                    <a:pt x="541760" y="1355326"/>
                    <a:pt x="551920" y="1355326"/>
                  </a:cubicBezTo>
                  <a:cubicBezTo>
                    <a:pt x="560810" y="1355326"/>
                    <a:pt x="570970" y="1356596"/>
                    <a:pt x="581130" y="1360406"/>
                  </a:cubicBezTo>
                  <a:cubicBezTo>
                    <a:pt x="596370" y="1366756"/>
                    <a:pt x="619230" y="1384536"/>
                    <a:pt x="629390" y="1397236"/>
                  </a:cubicBezTo>
                  <a:cubicBezTo>
                    <a:pt x="637010" y="1406126"/>
                    <a:pt x="639550" y="1413746"/>
                    <a:pt x="642090" y="1425176"/>
                  </a:cubicBezTo>
                  <a:cubicBezTo>
                    <a:pt x="645900" y="1440416"/>
                    <a:pt x="645900" y="1467086"/>
                    <a:pt x="639550" y="1484866"/>
                  </a:cubicBezTo>
                  <a:cubicBezTo>
                    <a:pt x="631930" y="1502646"/>
                    <a:pt x="612880" y="1521696"/>
                    <a:pt x="600180" y="1530586"/>
                  </a:cubicBezTo>
                  <a:cubicBezTo>
                    <a:pt x="590020" y="1538206"/>
                    <a:pt x="582400" y="1540746"/>
                    <a:pt x="570970" y="1542016"/>
                  </a:cubicBezTo>
                  <a:cubicBezTo>
                    <a:pt x="555730" y="1544556"/>
                    <a:pt x="532870" y="1547096"/>
                    <a:pt x="511280" y="1535666"/>
                  </a:cubicBezTo>
                  <a:cubicBezTo>
                    <a:pt x="469370" y="1514076"/>
                    <a:pt x="402060" y="1417556"/>
                    <a:pt x="369040" y="1364216"/>
                  </a:cubicBezTo>
                  <a:cubicBezTo>
                    <a:pt x="344910" y="1326116"/>
                    <a:pt x="337290" y="1299446"/>
                    <a:pt x="320780" y="1253726"/>
                  </a:cubicBezTo>
                  <a:cubicBezTo>
                    <a:pt x="295380" y="1181336"/>
                    <a:pt x="272520" y="1067036"/>
                    <a:pt x="240770" y="966706"/>
                  </a:cubicBezTo>
                  <a:cubicBezTo>
                    <a:pt x="206480" y="854946"/>
                    <a:pt x="149330" y="717786"/>
                    <a:pt x="118850" y="612376"/>
                  </a:cubicBezTo>
                  <a:cubicBezTo>
                    <a:pt x="93450" y="529826"/>
                    <a:pt x="79480" y="468866"/>
                    <a:pt x="61700" y="386316"/>
                  </a:cubicBezTo>
                  <a:cubicBezTo>
                    <a:pt x="40110" y="288526"/>
                    <a:pt x="-10690" y="120886"/>
                    <a:pt x="2010" y="62466"/>
                  </a:cubicBezTo>
                  <a:cubicBezTo>
                    <a:pt x="8360" y="37066"/>
                    <a:pt x="21060" y="24366"/>
                    <a:pt x="37570" y="12936"/>
                  </a:cubicBezTo>
                  <a:cubicBezTo>
                    <a:pt x="52810" y="2776"/>
                    <a:pt x="78210" y="-1034"/>
                    <a:pt x="95990" y="236"/>
                  </a:cubicBezTo>
                  <a:cubicBezTo>
                    <a:pt x="109960" y="1506"/>
                    <a:pt x="122660" y="5316"/>
                    <a:pt x="134090" y="15476"/>
                  </a:cubicBezTo>
                  <a:cubicBezTo>
                    <a:pt x="146790" y="25636"/>
                    <a:pt x="167110" y="65006"/>
                    <a:pt x="167110" y="65006"/>
                  </a:cubicBezTo>
                </a:path>
              </a:pathLst>
            </a:custGeom>
            <a:solidFill>
              <a:srgbClr val="94AAB8"/>
            </a:solidFill>
            <a:ln cap="sq">
              <a:noFill/>
              <a:prstDash val="solid"/>
              <a:miter/>
            </a:ln>
          </p:spPr>
        </p:sp>
      </p:grpSp>
      <p:grpSp>
        <p:nvGrpSpPr>
          <p:cNvPr name="Group 13" id="13"/>
          <p:cNvGrpSpPr/>
          <p:nvPr/>
        </p:nvGrpSpPr>
        <p:grpSpPr>
          <a:xfrm rot="0">
            <a:off x="1625519" y="2969329"/>
            <a:ext cx="112578" cy="114233"/>
            <a:chOff x="0" y="0"/>
            <a:chExt cx="259080" cy="262890"/>
          </a:xfrm>
        </p:grpSpPr>
        <p:sp>
          <p:nvSpPr>
            <p:cNvPr name="Freeform 14" id="14"/>
            <p:cNvSpPr/>
            <p:nvPr/>
          </p:nvSpPr>
          <p:spPr>
            <a:xfrm flipH="false" flipV="false" rot="0">
              <a:off x="46003" y="49802"/>
              <a:ext cx="158467" cy="163241"/>
            </a:xfrm>
            <a:custGeom>
              <a:avLst/>
              <a:gdLst/>
              <a:ahLst/>
              <a:cxnLst/>
              <a:rect r="r" b="b" t="t" l="l"/>
              <a:pathLst>
                <a:path h="163241" w="158467">
                  <a:moveTo>
                    <a:pt x="158467" y="55608"/>
                  </a:moveTo>
                  <a:cubicBezTo>
                    <a:pt x="154657" y="114028"/>
                    <a:pt x="130527" y="144508"/>
                    <a:pt x="112747" y="154668"/>
                  </a:cubicBezTo>
                  <a:cubicBezTo>
                    <a:pt x="101317" y="162288"/>
                    <a:pt x="88617" y="164828"/>
                    <a:pt x="74647" y="162288"/>
                  </a:cubicBezTo>
                  <a:cubicBezTo>
                    <a:pt x="54327" y="158478"/>
                    <a:pt x="20037" y="141968"/>
                    <a:pt x="8607" y="122918"/>
                  </a:cubicBezTo>
                  <a:cubicBezTo>
                    <a:pt x="-2823" y="102598"/>
                    <a:pt x="-1553" y="64498"/>
                    <a:pt x="4797" y="45448"/>
                  </a:cubicBezTo>
                  <a:cubicBezTo>
                    <a:pt x="8607" y="31478"/>
                    <a:pt x="16227" y="22588"/>
                    <a:pt x="28927" y="14968"/>
                  </a:cubicBezTo>
                  <a:cubicBezTo>
                    <a:pt x="45437" y="4808"/>
                    <a:pt x="84807" y="-2812"/>
                    <a:pt x="103857" y="998"/>
                  </a:cubicBezTo>
                  <a:cubicBezTo>
                    <a:pt x="117827" y="3538"/>
                    <a:pt x="138147" y="21318"/>
                    <a:pt x="138147" y="21318"/>
                  </a:cubicBezTo>
                </a:path>
              </a:pathLst>
            </a:custGeom>
            <a:solidFill>
              <a:srgbClr val="94AAB8"/>
            </a:solidFill>
            <a:ln cap="sq">
              <a:noFill/>
              <a:prstDash val="solid"/>
              <a:miter/>
            </a:ln>
          </p:spPr>
        </p:sp>
      </p:grpSp>
      <p:grpSp>
        <p:nvGrpSpPr>
          <p:cNvPr name="Group 15" id="15"/>
          <p:cNvGrpSpPr/>
          <p:nvPr/>
        </p:nvGrpSpPr>
        <p:grpSpPr>
          <a:xfrm rot="0">
            <a:off x="4880891" y="1414763"/>
            <a:ext cx="373603" cy="328352"/>
            <a:chOff x="0" y="0"/>
            <a:chExt cx="859790" cy="755650"/>
          </a:xfrm>
        </p:grpSpPr>
        <p:sp>
          <p:nvSpPr>
            <p:cNvPr name="Freeform 16" id="16"/>
            <p:cNvSpPr/>
            <p:nvPr/>
          </p:nvSpPr>
          <p:spPr>
            <a:xfrm flipH="false" flipV="false" rot="0">
              <a:off x="50800" y="49378"/>
              <a:ext cx="758190" cy="654491"/>
            </a:xfrm>
            <a:custGeom>
              <a:avLst/>
              <a:gdLst/>
              <a:ahLst/>
              <a:cxnLst/>
              <a:rect r="r" b="b" t="t" l="l"/>
              <a:pathLst>
                <a:path h="654491" w="758190">
                  <a:moveTo>
                    <a:pt x="123190" y="6502"/>
                  </a:moveTo>
                  <a:cubicBezTo>
                    <a:pt x="515620" y="282092"/>
                    <a:pt x="695960" y="439572"/>
                    <a:pt x="739140" y="504342"/>
                  </a:cubicBezTo>
                  <a:cubicBezTo>
                    <a:pt x="754380" y="527202"/>
                    <a:pt x="758190" y="541172"/>
                    <a:pt x="758190" y="560222"/>
                  </a:cubicBezTo>
                  <a:cubicBezTo>
                    <a:pt x="758190" y="579272"/>
                    <a:pt x="751840" y="600862"/>
                    <a:pt x="740410" y="616102"/>
                  </a:cubicBezTo>
                  <a:cubicBezTo>
                    <a:pt x="728980" y="631342"/>
                    <a:pt x="709930" y="645312"/>
                    <a:pt x="692150" y="650392"/>
                  </a:cubicBezTo>
                  <a:cubicBezTo>
                    <a:pt x="673100" y="655472"/>
                    <a:pt x="650240" y="654202"/>
                    <a:pt x="632460" y="647852"/>
                  </a:cubicBezTo>
                  <a:cubicBezTo>
                    <a:pt x="614680" y="641502"/>
                    <a:pt x="596900" y="622452"/>
                    <a:pt x="586740" y="609752"/>
                  </a:cubicBezTo>
                  <a:cubicBezTo>
                    <a:pt x="580390" y="600862"/>
                    <a:pt x="576580" y="593242"/>
                    <a:pt x="575310" y="581812"/>
                  </a:cubicBezTo>
                  <a:cubicBezTo>
                    <a:pt x="572770" y="566572"/>
                    <a:pt x="575310" y="538632"/>
                    <a:pt x="581660" y="523392"/>
                  </a:cubicBezTo>
                  <a:cubicBezTo>
                    <a:pt x="585470" y="513232"/>
                    <a:pt x="589280" y="505612"/>
                    <a:pt x="598170" y="497992"/>
                  </a:cubicBezTo>
                  <a:cubicBezTo>
                    <a:pt x="609600" y="487832"/>
                    <a:pt x="631190" y="472592"/>
                    <a:pt x="648970" y="470052"/>
                  </a:cubicBezTo>
                  <a:cubicBezTo>
                    <a:pt x="668020" y="466242"/>
                    <a:pt x="693420" y="472592"/>
                    <a:pt x="708660" y="478942"/>
                  </a:cubicBezTo>
                  <a:cubicBezTo>
                    <a:pt x="718820" y="482752"/>
                    <a:pt x="725170" y="489102"/>
                    <a:pt x="732790" y="496722"/>
                  </a:cubicBezTo>
                  <a:cubicBezTo>
                    <a:pt x="739140" y="503072"/>
                    <a:pt x="745490" y="510692"/>
                    <a:pt x="749300" y="520852"/>
                  </a:cubicBezTo>
                  <a:cubicBezTo>
                    <a:pt x="754380" y="536092"/>
                    <a:pt x="760730" y="561492"/>
                    <a:pt x="756920" y="580542"/>
                  </a:cubicBezTo>
                  <a:cubicBezTo>
                    <a:pt x="753110" y="598322"/>
                    <a:pt x="740410" y="618642"/>
                    <a:pt x="726440" y="631342"/>
                  </a:cubicBezTo>
                  <a:cubicBezTo>
                    <a:pt x="712470" y="642772"/>
                    <a:pt x="690880" y="652932"/>
                    <a:pt x="671830" y="654202"/>
                  </a:cubicBezTo>
                  <a:cubicBezTo>
                    <a:pt x="652780" y="655472"/>
                    <a:pt x="638810" y="652932"/>
                    <a:pt x="614680" y="638962"/>
                  </a:cubicBezTo>
                  <a:cubicBezTo>
                    <a:pt x="543560" y="598322"/>
                    <a:pt x="378460" y="386232"/>
                    <a:pt x="266700" y="296062"/>
                  </a:cubicBezTo>
                  <a:cubicBezTo>
                    <a:pt x="180340" y="226212"/>
                    <a:pt x="49530" y="179222"/>
                    <a:pt x="16510" y="132232"/>
                  </a:cubicBezTo>
                  <a:cubicBezTo>
                    <a:pt x="1270" y="111912"/>
                    <a:pt x="0" y="91592"/>
                    <a:pt x="0" y="73812"/>
                  </a:cubicBezTo>
                  <a:cubicBezTo>
                    <a:pt x="1270" y="59842"/>
                    <a:pt x="5080" y="47142"/>
                    <a:pt x="13970" y="35712"/>
                  </a:cubicBezTo>
                  <a:cubicBezTo>
                    <a:pt x="24130" y="21742"/>
                    <a:pt x="44450" y="5232"/>
                    <a:pt x="63500" y="1422"/>
                  </a:cubicBezTo>
                  <a:cubicBezTo>
                    <a:pt x="81280" y="-3658"/>
                    <a:pt x="123190" y="6502"/>
                    <a:pt x="123190" y="6502"/>
                  </a:cubicBezTo>
                </a:path>
              </a:pathLst>
            </a:custGeom>
            <a:solidFill>
              <a:srgbClr val="94AAB8"/>
            </a:solidFill>
            <a:ln cap="sq">
              <a:noFill/>
              <a:prstDash val="solid"/>
              <a:miter/>
            </a:ln>
          </p:spPr>
        </p:sp>
      </p:grpSp>
      <p:grpSp>
        <p:nvGrpSpPr>
          <p:cNvPr name="Group 17" id="17"/>
          <p:cNvGrpSpPr/>
          <p:nvPr/>
        </p:nvGrpSpPr>
        <p:grpSpPr>
          <a:xfrm rot="0">
            <a:off x="5677764" y="2932907"/>
            <a:ext cx="428237" cy="440377"/>
            <a:chOff x="0" y="0"/>
            <a:chExt cx="985520" cy="1013460"/>
          </a:xfrm>
        </p:grpSpPr>
        <p:sp>
          <p:nvSpPr>
            <p:cNvPr name="Freeform 18" id="18"/>
            <p:cNvSpPr/>
            <p:nvPr/>
          </p:nvSpPr>
          <p:spPr>
            <a:xfrm flipH="false" flipV="false" rot="0">
              <a:off x="49866" y="46185"/>
              <a:ext cx="885078" cy="917946"/>
            </a:xfrm>
            <a:custGeom>
              <a:avLst/>
              <a:gdLst/>
              <a:ahLst/>
              <a:cxnLst/>
              <a:rect r="r" b="b" t="t" l="l"/>
              <a:pathLst>
                <a:path h="917946" w="885078">
                  <a:moveTo>
                    <a:pt x="160954" y="46525"/>
                  </a:moveTo>
                  <a:cubicBezTo>
                    <a:pt x="224454" y="158285"/>
                    <a:pt x="313354" y="282745"/>
                    <a:pt x="393364" y="370375"/>
                  </a:cubicBezTo>
                  <a:cubicBezTo>
                    <a:pt x="482264" y="466895"/>
                    <a:pt x="618154" y="586275"/>
                    <a:pt x="703244" y="652315"/>
                  </a:cubicBezTo>
                  <a:cubicBezTo>
                    <a:pt x="755314" y="694225"/>
                    <a:pt x="807384" y="717085"/>
                    <a:pt x="837864" y="743755"/>
                  </a:cubicBezTo>
                  <a:cubicBezTo>
                    <a:pt x="855644" y="760265"/>
                    <a:pt x="869614" y="774235"/>
                    <a:pt x="877234" y="788205"/>
                  </a:cubicBezTo>
                  <a:cubicBezTo>
                    <a:pt x="882314" y="798365"/>
                    <a:pt x="884854" y="805985"/>
                    <a:pt x="884854" y="817415"/>
                  </a:cubicBezTo>
                  <a:cubicBezTo>
                    <a:pt x="884854" y="832655"/>
                    <a:pt x="881044" y="858055"/>
                    <a:pt x="870884" y="874565"/>
                  </a:cubicBezTo>
                  <a:cubicBezTo>
                    <a:pt x="860724" y="889805"/>
                    <a:pt x="842944" y="905045"/>
                    <a:pt x="825164" y="911395"/>
                  </a:cubicBezTo>
                  <a:cubicBezTo>
                    <a:pt x="807384" y="917745"/>
                    <a:pt x="781984" y="916475"/>
                    <a:pt x="765474" y="913935"/>
                  </a:cubicBezTo>
                  <a:cubicBezTo>
                    <a:pt x="755314" y="911395"/>
                    <a:pt x="747694" y="907585"/>
                    <a:pt x="738804" y="899965"/>
                  </a:cubicBezTo>
                  <a:cubicBezTo>
                    <a:pt x="727374" y="889805"/>
                    <a:pt x="709594" y="870755"/>
                    <a:pt x="704514" y="852975"/>
                  </a:cubicBezTo>
                  <a:cubicBezTo>
                    <a:pt x="698164" y="835195"/>
                    <a:pt x="699434" y="811065"/>
                    <a:pt x="705784" y="793285"/>
                  </a:cubicBezTo>
                  <a:cubicBezTo>
                    <a:pt x="712134" y="775505"/>
                    <a:pt x="729914" y="756455"/>
                    <a:pt x="742614" y="747565"/>
                  </a:cubicBezTo>
                  <a:cubicBezTo>
                    <a:pt x="751504" y="739945"/>
                    <a:pt x="760394" y="737405"/>
                    <a:pt x="770554" y="734865"/>
                  </a:cubicBezTo>
                  <a:cubicBezTo>
                    <a:pt x="779444" y="732325"/>
                    <a:pt x="788334" y="731055"/>
                    <a:pt x="799764" y="732325"/>
                  </a:cubicBezTo>
                  <a:cubicBezTo>
                    <a:pt x="815004" y="734865"/>
                    <a:pt x="840404" y="743755"/>
                    <a:pt x="854374" y="755185"/>
                  </a:cubicBezTo>
                  <a:cubicBezTo>
                    <a:pt x="868344" y="767885"/>
                    <a:pt x="879774" y="788205"/>
                    <a:pt x="883584" y="807255"/>
                  </a:cubicBezTo>
                  <a:cubicBezTo>
                    <a:pt x="887394" y="825035"/>
                    <a:pt x="883584" y="849165"/>
                    <a:pt x="875964" y="865675"/>
                  </a:cubicBezTo>
                  <a:cubicBezTo>
                    <a:pt x="867074" y="882185"/>
                    <a:pt x="850564" y="898695"/>
                    <a:pt x="834054" y="907585"/>
                  </a:cubicBezTo>
                  <a:cubicBezTo>
                    <a:pt x="817544" y="916475"/>
                    <a:pt x="798494" y="920285"/>
                    <a:pt x="775634" y="916475"/>
                  </a:cubicBezTo>
                  <a:cubicBezTo>
                    <a:pt x="740074" y="908855"/>
                    <a:pt x="690544" y="874565"/>
                    <a:pt x="649904" y="845355"/>
                  </a:cubicBezTo>
                  <a:cubicBezTo>
                    <a:pt x="600374" y="809795"/>
                    <a:pt x="541954" y="753915"/>
                    <a:pt x="505124" y="713275"/>
                  </a:cubicBezTo>
                  <a:cubicBezTo>
                    <a:pt x="478454" y="682795"/>
                    <a:pt x="470834" y="654855"/>
                    <a:pt x="442894" y="626915"/>
                  </a:cubicBezTo>
                  <a:cubicBezTo>
                    <a:pt x="407334" y="590085"/>
                    <a:pt x="343834" y="563415"/>
                    <a:pt x="298114" y="520235"/>
                  </a:cubicBezTo>
                  <a:cubicBezTo>
                    <a:pt x="246044" y="471975"/>
                    <a:pt x="197784" y="403395"/>
                    <a:pt x="153334" y="344975"/>
                  </a:cubicBezTo>
                  <a:cubicBezTo>
                    <a:pt x="110154" y="289095"/>
                    <a:pt x="61894" y="224325"/>
                    <a:pt x="35224" y="178605"/>
                  </a:cubicBezTo>
                  <a:cubicBezTo>
                    <a:pt x="18714" y="149395"/>
                    <a:pt x="4744" y="126535"/>
                    <a:pt x="934" y="102405"/>
                  </a:cubicBezTo>
                  <a:cubicBezTo>
                    <a:pt x="-1606" y="82085"/>
                    <a:pt x="934" y="59225"/>
                    <a:pt x="9824" y="42715"/>
                  </a:cubicBezTo>
                  <a:cubicBezTo>
                    <a:pt x="18714" y="26205"/>
                    <a:pt x="37764" y="10965"/>
                    <a:pt x="55544" y="4615"/>
                  </a:cubicBezTo>
                  <a:cubicBezTo>
                    <a:pt x="73324" y="-1735"/>
                    <a:pt x="98724" y="-1735"/>
                    <a:pt x="116504" y="5885"/>
                  </a:cubicBezTo>
                  <a:cubicBezTo>
                    <a:pt x="133014" y="12235"/>
                    <a:pt x="160954" y="46525"/>
                    <a:pt x="160954" y="46525"/>
                  </a:cubicBezTo>
                </a:path>
              </a:pathLst>
            </a:custGeom>
            <a:solidFill>
              <a:srgbClr val="94AAB8"/>
            </a:solidFill>
            <a:ln cap="sq">
              <a:noFill/>
              <a:prstDash val="solid"/>
              <a:miter/>
            </a:ln>
          </p:spPr>
        </p:sp>
      </p:grpSp>
      <p:grpSp>
        <p:nvGrpSpPr>
          <p:cNvPr name="Group 19" id="19"/>
          <p:cNvGrpSpPr/>
          <p:nvPr/>
        </p:nvGrpSpPr>
        <p:grpSpPr>
          <a:xfrm rot="0">
            <a:off x="7617522" y="1142149"/>
            <a:ext cx="632422" cy="253300"/>
            <a:chOff x="0" y="0"/>
            <a:chExt cx="1455420" cy="582930"/>
          </a:xfrm>
        </p:grpSpPr>
        <p:sp>
          <p:nvSpPr>
            <p:cNvPr name="Freeform 20" id="20"/>
            <p:cNvSpPr/>
            <p:nvPr/>
          </p:nvSpPr>
          <p:spPr>
            <a:xfrm flipH="false" flipV="false" rot="0">
              <a:off x="50146" y="44316"/>
              <a:ext cx="1355479" cy="488314"/>
            </a:xfrm>
            <a:custGeom>
              <a:avLst/>
              <a:gdLst/>
              <a:ahLst/>
              <a:cxnLst/>
              <a:rect r="r" b="b" t="t" l="l"/>
              <a:pathLst>
                <a:path h="488314" w="1355479">
                  <a:moveTo>
                    <a:pt x="1283354" y="170314"/>
                  </a:moveTo>
                  <a:cubicBezTo>
                    <a:pt x="747414" y="241434"/>
                    <a:pt x="508654" y="327794"/>
                    <a:pt x="361334" y="381134"/>
                  </a:cubicBezTo>
                  <a:cubicBezTo>
                    <a:pt x="259734" y="419234"/>
                    <a:pt x="153054" y="477654"/>
                    <a:pt x="108604" y="486544"/>
                  </a:cubicBezTo>
                  <a:cubicBezTo>
                    <a:pt x="93364" y="489084"/>
                    <a:pt x="88284" y="489084"/>
                    <a:pt x="78124" y="485274"/>
                  </a:cubicBezTo>
                  <a:cubicBezTo>
                    <a:pt x="61614" y="481464"/>
                    <a:pt x="37484" y="470034"/>
                    <a:pt x="24784" y="454794"/>
                  </a:cubicBezTo>
                  <a:cubicBezTo>
                    <a:pt x="12084" y="440824"/>
                    <a:pt x="1924" y="417964"/>
                    <a:pt x="654" y="398914"/>
                  </a:cubicBezTo>
                  <a:cubicBezTo>
                    <a:pt x="-616" y="379864"/>
                    <a:pt x="4464" y="355734"/>
                    <a:pt x="15894" y="340494"/>
                  </a:cubicBezTo>
                  <a:cubicBezTo>
                    <a:pt x="26054" y="323984"/>
                    <a:pt x="47644" y="308744"/>
                    <a:pt x="62884" y="302394"/>
                  </a:cubicBezTo>
                  <a:cubicBezTo>
                    <a:pt x="73044" y="297314"/>
                    <a:pt x="81934" y="296044"/>
                    <a:pt x="93364" y="296044"/>
                  </a:cubicBezTo>
                  <a:cubicBezTo>
                    <a:pt x="109874" y="297314"/>
                    <a:pt x="137814" y="306204"/>
                    <a:pt x="151784" y="313824"/>
                  </a:cubicBezTo>
                  <a:cubicBezTo>
                    <a:pt x="161944" y="320174"/>
                    <a:pt x="167024" y="326524"/>
                    <a:pt x="173374" y="336684"/>
                  </a:cubicBezTo>
                  <a:cubicBezTo>
                    <a:pt x="182264" y="350654"/>
                    <a:pt x="189884" y="378594"/>
                    <a:pt x="191154" y="395104"/>
                  </a:cubicBezTo>
                  <a:cubicBezTo>
                    <a:pt x="191154" y="406534"/>
                    <a:pt x="189884" y="414154"/>
                    <a:pt x="184804" y="424314"/>
                  </a:cubicBezTo>
                  <a:cubicBezTo>
                    <a:pt x="178454" y="439554"/>
                    <a:pt x="163214" y="462414"/>
                    <a:pt x="146704" y="472574"/>
                  </a:cubicBezTo>
                  <a:cubicBezTo>
                    <a:pt x="130194" y="482734"/>
                    <a:pt x="103524" y="486544"/>
                    <a:pt x="88284" y="486544"/>
                  </a:cubicBezTo>
                  <a:cubicBezTo>
                    <a:pt x="75584" y="486544"/>
                    <a:pt x="67964" y="485274"/>
                    <a:pt x="57804" y="478924"/>
                  </a:cubicBezTo>
                  <a:cubicBezTo>
                    <a:pt x="43834" y="471304"/>
                    <a:pt x="22244" y="454794"/>
                    <a:pt x="12084" y="438284"/>
                  </a:cubicBezTo>
                  <a:cubicBezTo>
                    <a:pt x="3194" y="421774"/>
                    <a:pt x="-1886" y="397644"/>
                    <a:pt x="654" y="378594"/>
                  </a:cubicBezTo>
                  <a:cubicBezTo>
                    <a:pt x="3194" y="359544"/>
                    <a:pt x="17164" y="336684"/>
                    <a:pt x="28594" y="323984"/>
                  </a:cubicBezTo>
                  <a:cubicBezTo>
                    <a:pt x="36214" y="315094"/>
                    <a:pt x="40024" y="312554"/>
                    <a:pt x="53994" y="306204"/>
                  </a:cubicBezTo>
                  <a:cubicBezTo>
                    <a:pt x="87014" y="288424"/>
                    <a:pt x="194964" y="260484"/>
                    <a:pt x="249574" y="237624"/>
                  </a:cubicBezTo>
                  <a:cubicBezTo>
                    <a:pt x="290214" y="219844"/>
                    <a:pt x="304184" y="203334"/>
                    <a:pt x="353714" y="184284"/>
                  </a:cubicBezTo>
                  <a:cubicBezTo>
                    <a:pt x="465474" y="141104"/>
                    <a:pt x="807104" y="36964"/>
                    <a:pt x="915054" y="28074"/>
                  </a:cubicBezTo>
                  <a:cubicBezTo>
                    <a:pt x="958234" y="25534"/>
                    <a:pt x="976014" y="40774"/>
                    <a:pt x="1006494" y="38234"/>
                  </a:cubicBezTo>
                  <a:cubicBezTo>
                    <a:pt x="1038244" y="36964"/>
                    <a:pt x="1062374" y="20454"/>
                    <a:pt x="1097934" y="15374"/>
                  </a:cubicBezTo>
                  <a:cubicBezTo>
                    <a:pt x="1152544" y="6484"/>
                    <a:pt x="1257954" y="-8756"/>
                    <a:pt x="1299864" y="6484"/>
                  </a:cubicBezTo>
                  <a:cubicBezTo>
                    <a:pt x="1322724" y="14104"/>
                    <a:pt x="1336694" y="28074"/>
                    <a:pt x="1345584" y="44584"/>
                  </a:cubicBezTo>
                  <a:cubicBezTo>
                    <a:pt x="1354474" y="61094"/>
                    <a:pt x="1358284" y="86494"/>
                    <a:pt x="1353204" y="104274"/>
                  </a:cubicBezTo>
                  <a:cubicBezTo>
                    <a:pt x="1349394" y="122054"/>
                    <a:pt x="1334154" y="143644"/>
                    <a:pt x="1320184" y="155074"/>
                  </a:cubicBezTo>
                  <a:cubicBezTo>
                    <a:pt x="1310024" y="163964"/>
                    <a:pt x="1283354" y="170314"/>
                    <a:pt x="1283354" y="170314"/>
                  </a:cubicBezTo>
                </a:path>
              </a:pathLst>
            </a:custGeom>
            <a:solidFill>
              <a:srgbClr val="94AAB8"/>
            </a:solidFill>
            <a:ln cap="sq">
              <a:noFill/>
              <a:prstDash val="solid"/>
              <a:miter/>
            </a:ln>
          </p:spPr>
        </p:sp>
      </p:grpSp>
      <p:grpSp>
        <p:nvGrpSpPr>
          <p:cNvPr name="Group 21" id="21"/>
          <p:cNvGrpSpPr/>
          <p:nvPr/>
        </p:nvGrpSpPr>
        <p:grpSpPr>
          <a:xfrm rot="0">
            <a:off x="7514326" y="1336952"/>
            <a:ext cx="111474" cy="115337"/>
            <a:chOff x="0" y="0"/>
            <a:chExt cx="256540" cy="265430"/>
          </a:xfrm>
        </p:grpSpPr>
        <p:sp>
          <p:nvSpPr>
            <p:cNvPr name="Freeform 22" id="22"/>
            <p:cNvSpPr/>
            <p:nvPr/>
          </p:nvSpPr>
          <p:spPr>
            <a:xfrm flipH="false" flipV="false" rot="0">
              <a:off x="46003" y="50800"/>
              <a:ext cx="158467" cy="164638"/>
            </a:xfrm>
            <a:custGeom>
              <a:avLst/>
              <a:gdLst/>
              <a:ahLst/>
              <a:cxnLst/>
              <a:rect r="r" b="b" t="t" l="l"/>
              <a:pathLst>
                <a:path h="164638" w="158467">
                  <a:moveTo>
                    <a:pt x="158467" y="57150"/>
                  </a:moveTo>
                  <a:cubicBezTo>
                    <a:pt x="136877" y="144780"/>
                    <a:pt x="125447" y="152400"/>
                    <a:pt x="114017" y="157480"/>
                  </a:cubicBezTo>
                  <a:cubicBezTo>
                    <a:pt x="101317" y="162560"/>
                    <a:pt x="88617" y="166370"/>
                    <a:pt x="74647" y="163830"/>
                  </a:cubicBezTo>
                  <a:cubicBezTo>
                    <a:pt x="55597" y="160020"/>
                    <a:pt x="21307" y="143510"/>
                    <a:pt x="8607" y="124460"/>
                  </a:cubicBezTo>
                  <a:cubicBezTo>
                    <a:pt x="-2823" y="105410"/>
                    <a:pt x="-1553" y="67310"/>
                    <a:pt x="4797" y="48260"/>
                  </a:cubicBezTo>
                  <a:cubicBezTo>
                    <a:pt x="8607" y="34290"/>
                    <a:pt x="18767" y="24130"/>
                    <a:pt x="28927" y="16510"/>
                  </a:cubicBezTo>
                  <a:cubicBezTo>
                    <a:pt x="39087" y="8890"/>
                    <a:pt x="50517" y="1270"/>
                    <a:pt x="64487" y="0"/>
                  </a:cubicBezTo>
                  <a:cubicBezTo>
                    <a:pt x="84807" y="0"/>
                    <a:pt x="138147" y="22860"/>
                    <a:pt x="138147" y="22860"/>
                  </a:cubicBezTo>
                </a:path>
              </a:pathLst>
            </a:custGeom>
            <a:solidFill>
              <a:srgbClr val="94AAB8"/>
            </a:solidFill>
            <a:ln cap="sq">
              <a:noFill/>
              <a:prstDash val="solid"/>
              <a:miter/>
            </a:ln>
          </p:spPr>
        </p:sp>
      </p:grpSp>
      <p:grpSp>
        <p:nvGrpSpPr>
          <p:cNvPr name="Group 23" id="23"/>
          <p:cNvGrpSpPr/>
          <p:nvPr/>
        </p:nvGrpSpPr>
        <p:grpSpPr>
          <a:xfrm rot="0">
            <a:off x="7730100" y="4841209"/>
            <a:ext cx="828329" cy="427685"/>
            <a:chOff x="0" y="0"/>
            <a:chExt cx="1906270" cy="984250"/>
          </a:xfrm>
        </p:grpSpPr>
        <p:sp>
          <p:nvSpPr>
            <p:cNvPr name="Freeform 24" id="24"/>
            <p:cNvSpPr/>
            <p:nvPr/>
          </p:nvSpPr>
          <p:spPr>
            <a:xfrm flipH="false" flipV="false" rot="0">
              <a:off x="50153" y="48500"/>
              <a:ext cx="1805312" cy="887998"/>
            </a:xfrm>
            <a:custGeom>
              <a:avLst/>
              <a:gdLst/>
              <a:ahLst/>
              <a:cxnLst/>
              <a:rect r="r" b="b" t="t" l="l"/>
              <a:pathLst>
                <a:path h="887998" w="1805312">
                  <a:moveTo>
                    <a:pt x="1773567" y="152160"/>
                  </a:moveTo>
                  <a:cubicBezTo>
                    <a:pt x="1487817" y="317260"/>
                    <a:pt x="1409077" y="345200"/>
                    <a:pt x="1315097" y="379490"/>
                  </a:cubicBezTo>
                  <a:cubicBezTo>
                    <a:pt x="1195717" y="423940"/>
                    <a:pt x="1009027" y="468390"/>
                    <a:pt x="904887" y="510300"/>
                  </a:cubicBezTo>
                  <a:cubicBezTo>
                    <a:pt x="840117" y="538240"/>
                    <a:pt x="794397" y="572530"/>
                    <a:pt x="748677" y="589040"/>
                  </a:cubicBezTo>
                  <a:cubicBezTo>
                    <a:pt x="716927" y="600470"/>
                    <a:pt x="702957" y="594120"/>
                    <a:pt x="663587" y="608090"/>
                  </a:cubicBezTo>
                  <a:cubicBezTo>
                    <a:pt x="559447" y="644920"/>
                    <a:pt x="211467" y="865900"/>
                    <a:pt x="118757" y="884950"/>
                  </a:cubicBezTo>
                  <a:cubicBezTo>
                    <a:pt x="90817" y="890030"/>
                    <a:pt x="76847" y="888760"/>
                    <a:pt x="59067" y="881140"/>
                  </a:cubicBezTo>
                  <a:cubicBezTo>
                    <a:pt x="41287" y="873520"/>
                    <a:pt x="23507" y="858280"/>
                    <a:pt x="13347" y="841770"/>
                  </a:cubicBezTo>
                  <a:cubicBezTo>
                    <a:pt x="3187" y="825260"/>
                    <a:pt x="-1893" y="802400"/>
                    <a:pt x="647" y="783350"/>
                  </a:cubicBezTo>
                  <a:cubicBezTo>
                    <a:pt x="3187" y="764300"/>
                    <a:pt x="15887" y="741440"/>
                    <a:pt x="26047" y="728740"/>
                  </a:cubicBezTo>
                  <a:cubicBezTo>
                    <a:pt x="33667" y="719850"/>
                    <a:pt x="40017" y="714770"/>
                    <a:pt x="50177" y="710960"/>
                  </a:cubicBezTo>
                  <a:cubicBezTo>
                    <a:pt x="65417" y="704610"/>
                    <a:pt x="93357" y="699530"/>
                    <a:pt x="109867" y="700800"/>
                  </a:cubicBezTo>
                  <a:cubicBezTo>
                    <a:pt x="121297" y="702070"/>
                    <a:pt x="128917" y="704610"/>
                    <a:pt x="139077" y="710960"/>
                  </a:cubicBezTo>
                  <a:cubicBezTo>
                    <a:pt x="151777" y="719850"/>
                    <a:pt x="172097" y="740170"/>
                    <a:pt x="179717" y="755410"/>
                  </a:cubicBezTo>
                  <a:cubicBezTo>
                    <a:pt x="184797" y="764300"/>
                    <a:pt x="187337" y="773190"/>
                    <a:pt x="187337" y="784620"/>
                  </a:cubicBezTo>
                  <a:cubicBezTo>
                    <a:pt x="187337" y="799860"/>
                    <a:pt x="184797" y="826530"/>
                    <a:pt x="174637" y="843040"/>
                  </a:cubicBezTo>
                  <a:cubicBezTo>
                    <a:pt x="164477" y="858280"/>
                    <a:pt x="146697" y="874790"/>
                    <a:pt x="128917" y="881140"/>
                  </a:cubicBezTo>
                  <a:cubicBezTo>
                    <a:pt x="111137" y="888760"/>
                    <a:pt x="87007" y="890030"/>
                    <a:pt x="69227" y="884950"/>
                  </a:cubicBezTo>
                  <a:cubicBezTo>
                    <a:pt x="50177" y="878600"/>
                    <a:pt x="31127" y="865900"/>
                    <a:pt x="19697" y="850660"/>
                  </a:cubicBezTo>
                  <a:cubicBezTo>
                    <a:pt x="8267" y="835420"/>
                    <a:pt x="647" y="812560"/>
                    <a:pt x="647" y="793510"/>
                  </a:cubicBezTo>
                  <a:cubicBezTo>
                    <a:pt x="647" y="774460"/>
                    <a:pt x="1917" y="757950"/>
                    <a:pt x="19697" y="736360"/>
                  </a:cubicBezTo>
                  <a:cubicBezTo>
                    <a:pt x="75577" y="670320"/>
                    <a:pt x="377837" y="539510"/>
                    <a:pt x="525157" y="469660"/>
                  </a:cubicBezTo>
                  <a:cubicBezTo>
                    <a:pt x="636917" y="418860"/>
                    <a:pt x="715657" y="388380"/>
                    <a:pt x="822337" y="349010"/>
                  </a:cubicBezTo>
                  <a:cubicBezTo>
                    <a:pt x="945527" y="304560"/>
                    <a:pt x="1099197" y="267730"/>
                    <a:pt x="1224927" y="223280"/>
                  </a:cubicBezTo>
                  <a:cubicBezTo>
                    <a:pt x="1337957" y="182640"/>
                    <a:pt x="1456067" y="138190"/>
                    <a:pt x="1543697" y="95010"/>
                  </a:cubicBezTo>
                  <a:cubicBezTo>
                    <a:pt x="1607197" y="64530"/>
                    <a:pt x="1666887" y="11190"/>
                    <a:pt x="1703717" y="2300"/>
                  </a:cubicBezTo>
                  <a:cubicBezTo>
                    <a:pt x="1721497" y="-1510"/>
                    <a:pt x="1731657" y="-240"/>
                    <a:pt x="1744357" y="3570"/>
                  </a:cubicBezTo>
                  <a:cubicBezTo>
                    <a:pt x="1760867" y="9920"/>
                    <a:pt x="1782457" y="25160"/>
                    <a:pt x="1792617" y="40400"/>
                  </a:cubicBezTo>
                  <a:cubicBezTo>
                    <a:pt x="1802777" y="56910"/>
                    <a:pt x="1807857" y="81040"/>
                    <a:pt x="1804047" y="100090"/>
                  </a:cubicBezTo>
                  <a:cubicBezTo>
                    <a:pt x="1800237" y="119140"/>
                    <a:pt x="1773567" y="152160"/>
                    <a:pt x="1773567" y="152160"/>
                  </a:cubicBezTo>
                </a:path>
              </a:pathLst>
            </a:custGeom>
            <a:solidFill>
              <a:srgbClr val="94AAB8"/>
            </a:solidFill>
            <a:ln cap="sq">
              <a:noFill/>
              <a:prstDash val="solid"/>
              <a:miter/>
            </a:ln>
          </p:spPr>
        </p:sp>
      </p:grpSp>
      <p:grpSp>
        <p:nvGrpSpPr>
          <p:cNvPr name="Group 25" id="25"/>
          <p:cNvGrpSpPr/>
          <p:nvPr/>
        </p:nvGrpSpPr>
        <p:grpSpPr>
          <a:xfrm rot="0">
            <a:off x="4984639" y="4840657"/>
            <a:ext cx="437066" cy="604829"/>
            <a:chOff x="0" y="0"/>
            <a:chExt cx="1005840" cy="1391920"/>
          </a:xfrm>
        </p:grpSpPr>
        <p:sp>
          <p:nvSpPr>
            <p:cNvPr name="Freeform 26" id="26"/>
            <p:cNvSpPr/>
            <p:nvPr/>
          </p:nvSpPr>
          <p:spPr>
            <a:xfrm flipH="false" flipV="false" rot="0">
              <a:off x="50665" y="50153"/>
              <a:ext cx="904180" cy="1291602"/>
            </a:xfrm>
            <a:custGeom>
              <a:avLst/>
              <a:gdLst/>
              <a:ahLst/>
              <a:cxnLst/>
              <a:rect r="r" b="b" t="t" l="l"/>
              <a:pathLst>
                <a:path h="1291602" w="904180">
                  <a:moveTo>
                    <a:pt x="166505" y="61607"/>
                  </a:moveTo>
                  <a:cubicBezTo>
                    <a:pt x="331605" y="575957"/>
                    <a:pt x="339225" y="583577"/>
                    <a:pt x="363355" y="615327"/>
                  </a:cubicBezTo>
                  <a:cubicBezTo>
                    <a:pt x="405265" y="675017"/>
                    <a:pt x="487815" y="768997"/>
                    <a:pt x="566555" y="850277"/>
                  </a:cubicBezTo>
                  <a:cubicBezTo>
                    <a:pt x="659265" y="946797"/>
                    <a:pt x="854845" y="1082687"/>
                    <a:pt x="891675" y="1148727"/>
                  </a:cubicBezTo>
                  <a:cubicBezTo>
                    <a:pt x="904375" y="1172857"/>
                    <a:pt x="905645" y="1189367"/>
                    <a:pt x="903105" y="1208417"/>
                  </a:cubicBezTo>
                  <a:cubicBezTo>
                    <a:pt x="900565" y="1227467"/>
                    <a:pt x="890405" y="1249057"/>
                    <a:pt x="876435" y="1263027"/>
                  </a:cubicBezTo>
                  <a:cubicBezTo>
                    <a:pt x="863735" y="1275727"/>
                    <a:pt x="838335" y="1285887"/>
                    <a:pt x="823095" y="1289697"/>
                  </a:cubicBezTo>
                  <a:cubicBezTo>
                    <a:pt x="811665" y="1292237"/>
                    <a:pt x="802775" y="1292237"/>
                    <a:pt x="792615" y="1289697"/>
                  </a:cubicBezTo>
                  <a:cubicBezTo>
                    <a:pt x="776105" y="1284617"/>
                    <a:pt x="751975" y="1274457"/>
                    <a:pt x="739275" y="1259217"/>
                  </a:cubicBezTo>
                  <a:cubicBezTo>
                    <a:pt x="726575" y="1245247"/>
                    <a:pt x="717685" y="1219847"/>
                    <a:pt x="715145" y="1204607"/>
                  </a:cubicBezTo>
                  <a:cubicBezTo>
                    <a:pt x="712605" y="1193177"/>
                    <a:pt x="713875" y="1184287"/>
                    <a:pt x="717685" y="1174127"/>
                  </a:cubicBezTo>
                  <a:cubicBezTo>
                    <a:pt x="722765" y="1158887"/>
                    <a:pt x="738005" y="1133487"/>
                    <a:pt x="749435" y="1123327"/>
                  </a:cubicBezTo>
                  <a:cubicBezTo>
                    <a:pt x="758325" y="1114437"/>
                    <a:pt x="764675" y="1110627"/>
                    <a:pt x="776105" y="1106817"/>
                  </a:cubicBezTo>
                  <a:cubicBezTo>
                    <a:pt x="791345" y="1103007"/>
                    <a:pt x="818015" y="1100467"/>
                    <a:pt x="835795" y="1105547"/>
                  </a:cubicBezTo>
                  <a:cubicBezTo>
                    <a:pt x="854845" y="1110627"/>
                    <a:pt x="875165" y="1128407"/>
                    <a:pt x="885325" y="1139837"/>
                  </a:cubicBezTo>
                  <a:cubicBezTo>
                    <a:pt x="892945" y="1148727"/>
                    <a:pt x="896755" y="1156347"/>
                    <a:pt x="899295" y="1167777"/>
                  </a:cubicBezTo>
                  <a:cubicBezTo>
                    <a:pt x="903105" y="1183017"/>
                    <a:pt x="904375" y="1209687"/>
                    <a:pt x="898025" y="1227467"/>
                  </a:cubicBezTo>
                  <a:cubicBezTo>
                    <a:pt x="891675" y="1246517"/>
                    <a:pt x="876435" y="1265567"/>
                    <a:pt x="861195" y="1275727"/>
                  </a:cubicBezTo>
                  <a:cubicBezTo>
                    <a:pt x="844685" y="1285887"/>
                    <a:pt x="821825" y="1292237"/>
                    <a:pt x="802775" y="1290967"/>
                  </a:cubicBezTo>
                  <a:cubicBezTo>
                    <a:pt x="783725" y="1288427"/>
                    <a:pt x="771025" y="1282077"/>
                    <a:pt x="746895" y="1266837"/>
                  </a:cubicBezTo>
                  <a:cubicBezTo>
                    <a:pt x="687205" y="1228737"/>
                    <a:pt x="556395" y="1106817"/>
                    <a:pt x="468765" y="1017917"/>
                  </a:cubicBezTo>
                  <a:cubicBezTo>
                    <a:pt x="379865" y="929017"/>
                    <a:pt x="279535" y="819797"/>
                    <a:pt x="218575" y="733437"/>
                  </a:cubicBezTo>
                  <a:cubicBezTo>
                    <a:pt x="174125" y="669937"/>
                    <a:pt x="151265" y="631837"/>
                    <a:pt x="120785" y="556907"/>
                  </a:cubicBezTo>
                  <a:cubicBezTo>
                    <a:pt x="73795" y="440067"/>
                    <a:pt x="-3675" y="169557"/>
                    <a:pt x="135" y="88277"/>
                  </a:cubicBezTo>
                  <a:cubicBezTo>
                    <a:pt x="135" y="60337"/>
                    <a:pt x="6485" y="45097"/>
                    <a:pt x="19185" y="31127"/>
                  </a:cubicBezTo>
                  <a:cubicBezTo>
                    <a:pt x="30615" y="15887"/>
                    <a:pt x="52205" y="4457"/>
                    <a:pt x="71255" y="647"/>
                  </a:cubicBezTo>
                  <a:cubicBezTo>
                    <a:pt x="90305" y="-1893"/>
                    <a:pt x="114435" y="3187"/>
                    <a:pt x="130945" y="13347"/>
                  </a:cubicBezTo>
                  <a:cubicBezTo>
                    <a:pt x="146185" y="23507"/>
                    <a:pt x="166505" y="61607"/>
                    <a:pt x="166505" y="61607"/>
                  </a:cubicBezTo>
                </a:path>
              </a:pathLst>
            </a:custGeom>
            <a:solidFill>
              <a:srgbClr val="94AAB8"/>
            </a:solidFill>
            <a:ln cap="sq">
              <a:noFill/>
              <a:prstDash val="solid"/>
              <a:miter/>
            </a:ln>
          </p:spPr>
        </p:sp>
      </p:grpSp>
      <p:grpSp>
        <p:nvGrpSpPr>
          <p:cNvPr name="Group 27" id="27"/>
          <p:cNvGrpSpPr/>
          <p:nvPr/>
        </p:nvGrpSpPr>
        <p:grpSpPr>
          <a:xfrm rot="0">
            <a:off x="5419498" y="5387542"/>
            <a:ext cx="115337" cy="112578"/>
            <a:chOff x="0" y="0"/>
            <a:chExt cx="265430" cy="259080"/>
          </a:xfrm>
        </p:grpSpPr>
        <p:sp>
          <p:nvSpPr>
            <p:cNvPr name="Freeform 28" id="28"/>
            <p:cNvSpPr/>
            <p:nvPr/>
          </p:nvSpPr>
          <p:spPr>
            <a:xfrm flipH="false" flipV="false" rot="0">
              <a:off x="50637" y="50752"/>
              <a:ext cx="161453" cy="161862"/>
            </a:xfrm>
            <a:custGeom>
              <a:avLst/>
              <a:gdLst/>
              <a:ahLst/>
              <a:cxnLst/>
              <a:rect r="r" b="b" t="t" l="l"/>
              <a:pathLst>
                <a:path h="161862" w="161453">
                  <a:moveTo>
                    <a:pt x="161453" y="57198"/>
                  </a:moveTo>
                  <a:cubicBezTo>
                    <a:pt x="157643" y="115618"/>
                    <a:pt x="137323" y="147368"/>
                    <a:pt x="115733" y="157528"/>
                  </a:cubicBezTo>
                  <a:cubicBezTo>
                    <a:pt x="95413" y="166418"/>
                    <a:pt x="57313" y="160068"/>
                    <a:pt x="39533" y="152448"/>
                  </a:cubicBezTo>
                  <a:cubicBezTo>
                    <a:pt x="26833" y="146098"/>
                    <a:pt x="17943" y="135938"/>
                    <a:pt x="11593" y="124508"/>
                  </a:cubicBezTo>
                  <a:cubicBezTo>
                    <a:pt x="5243" y="113078"/>
                    <a:pt x="-1107" y="101648"/>
                    <a:pt x="163" y="86408"/>
                  </a:cubicBezTo>
                  <a:cubicBezTo>
                    <a:pt x="1433" y="67358"/>
                    <a:pt x="16673" y="30528"/>
                    <a:pt x="31913" y="16558"/>
                  </a:cubicBezTo>
                  <a:cubicBezTo>
                    <a:pt x="40803" y="6398"/>
                    <a:pt x="53503" y="1318"/>
                    <a:pt x="67473" y="48"/>
                  </a:cubicBezTo>
                  <a:cubicBezTo>
                    <a:pt x="87793" y="-1222"/>
                    <a:pt x="141133" y="22908"/>
                    <a:pt x="141133" y="22908"/>
                  </a:cubicBezTo>
                </a:path>
              </a:pathLst>
            </a:custGeom>
            <a:solidFill>
              <a:srgbClr val="94AAB8"/>
            </a:solidFill>
            <a:ln cap="sq">
              <a:noFill/>
              <a:prstDash val="solid"/>
              <a:miter/>
            </a:ln>
          </p:spPr>
        </p:sp>
      </p:grpSp>
      <p:grpSp>
        <p:nvGrpSpPr>
          <p:cNvPr name="Group 29" id="29"/>
          <p:cNvGrpSpPr/>
          <p:nvPr/>
        </p:nvGrpSpPr>
        <p:grpSpPr>
          <a:xfrm rot="0">
            <a:off x="3755666" y="3273399"/>
            <a:ext cx="714096" cy="416096"/>
            <a:chOff x="0" y="0"/>
            <a:chExt cx="1643380" cy="957580"/>
          </a:xfrm>
        </p:grpSpPr>
        <p:sp>
          <p:nvSpPr>
            <p:cNvPr name="Freeform 30" id="30"/>
            <p:cNvSpPr/>
            <p:nvPr/>
          </p:nvSpPr>
          <p:spPr>
            <a:xfrm flipH="false" flipV="false" rot="0">
              <a:off x="46185" y="50800"/>
              <a:ext cx="1547198" cy="855980"/>
            </a:xfrm>
            <a:custGeom>
              <a:avLst/>
              <a:gdLst/>
              <a:ahLst/>
              <a:cxnLst/>
              <a:rect r="r" b="b" t="t" l="l"/>
              <a:pathLst>
                <a:path h="855980" w="1547198">
                  <a:moveTo>
                    <a:pt x="121455" y="8890"/>
                  </a:moveTo>
                  <a:cubicBezTo>
                    <a:pt x="276395" y="78740"/>
                    <a:pt x="503725" y="128270"/>
                    <a:pt x="610405" y="167640"/>
                  </a:cubicBezTo>
                  <a:cubicBezTo>
                    <a:pt x="678985" y="194310"/>
                    <a:pt x="708195" y="218440"/>
                    <a:pt x="775505" y="247650"/>
                  </a:cubicBezTo>
                  <a:cubicBezTo>
                    <a:pt x="875835" y="290830"/>
                    <a:pt x="1081575" y="353060"/>
                    <a:pt x="1160315" y="392430"/>
                  </a:cubicBezTo>
                  <a:cubicBezTo>
                    <a:pt x="1198415" y="411480"/>
                    <a:pt x="1206035" y="417830"/>
                    <a:pt x="1239055" y="444500"/>
                  </a:cubicBezTo>
                  <a:cubicBezTo>
                    <a:pt x="1308905" y="497840"/>
                    <a:pt x="1504485" y="656590"/>
                    <a:pt x="1537505" y="718820"/>
                  </a:cubicBezTo>
                  <a:cubicBezTo>
                    <a:pt x="1550205" y="744220"/>
                    <a:pt x="1547665" y="763270"/>
                    <a:pt x="1545125" y="779780"/>
                  </a:cubicBezTo>
                  <a:cubicBezTo>
                    <a:pt x="1543855" y="791210"/>
                    <a:pt x="1541315" y="798830"/>
                    <a:pt x="1534965" y="807720"/>
                  </a:cubicBezTo>
                  <a:cubicBezTo>
                    <a:pt x="1524805" y="821690"/>
                    <a:pt x="1504485" y="840740"/>
                    <a:pt x="1489245" y="848360"/>
                  </a:cubicBezTo>
                  <a:cubicBezTo>
                    <a:pt x="1479085" y="853440"/>
                    <a:pt x="1470195" y="854710"/>
                    <a:pt x="1460035" y="855980"/>
                  </a:cubicBezTo>
                  <a:cubicBezTo>
                    <a:pt x="1449875" y="855980"/>
                    <a:pt x="1439715" y="855980"/>
                    <a:pt x="1429555" y="853440"/>
                  </a:cubicBezTo>
                  <a:cubicBezTo>
                    <a:pt x="1414315" y="847090"/>
                    <a:pt x="1390185" y="835660"/>
                    <a:pt x="1378755" y="820420"/>
                  </a:cubicBezTo>
                  <a:cubicBezTo>
                    <a:pt x="1366055" y="805180"/>
                    <a:pt x="1358435" y="782320"/>
                    <a:pt x="1358435" y="763270"/>
                  </a:cubicBezTo>
                  <a:cubicBezTo>
                    <a:pt x="1357165" y="744220"/>
                    <a:pt x="1367325" y="720090"/>
                    <a:pt x="1376215" y="706120"/>
                  </a:cubicBezTo>
                  <a:cubicBezTo>
                    <a:pt x="1381295" y="695960"/>
                    <a:pt x="1387645" y="689610"/>
                    <a:pt x="1397805" y="684530"/>
                  </a:cubicBezTo>
                  <a:cubicBezTo>
                    <a:pt x="1411775" y="675640"/>
                    <a:pt x="1435905" y="665480"/>
                    <a:pt x="1454955" y="666750"/>
                  </a:cubicBezTo>
                  <a:cubicBezTo>
                    <a:pt x="1474005" y="666750"/>
                    <a:pt x="1496865" y="675640"/>
                    <a:pt x="1512105" y="687070"/>
                  </a:cubicBezTo>
                  <a:cubicBezTo>
                    <a:pt x="1527345" y="699770"/>
                    <a:pt x="1540045" y="720090"/>
                    <a:pt x="1543855" y="739140"/>
                  </a:cubicBezTo>
                  <a:cubicBezTo>
                    <a:pt x="1548935" y="756920"/>
                    <a:pt x="1543855" y="783590"/>
                    <a:pt x="1538775" y="798830"/>
                  </a:cubicBezTo>
                  <a:cubicBezTo>
                    <a:pt x="1534965" y="810260"/>
                    <a:pt x="1531155" y="816610"/>
                    <a:pt x="1522265" y="824230"/>
                  </a:cubicBezTo>
                  <a:cubicBezTo>
                    <a:pt x="1510835" y="835660"/>
                    <a:pt x="1489245" y="850900"/>
                    <a:pt x="1470195" y="854710"/>
                  </a:cubicBezTo>
                  <a:cubicBezTo>
                    <a:pt x="1451145" y="857250"/>
                    <a:pt x="1432095" y="855980"/>
                    <a:pt x="1410505" y="845820"/>
                  </a:cubicBezTo>
                  <a:cubicBezTo>
                    <a:pt x="1374945" y="830580"/>
                    <a:pt x="1320335" y="778510"/>
                    <a:pt x="1286045" y="744220"/>
                  </a:cubicBezTo>
                  <a:cubicBezTo>
                    <a:pt x="1256835" y="715010"/>
                    <a:pt x="1244135" y="684530"/>
                    <a:pt x="1213655" y="656590"/>
                  </a:cubicBezTo>
                  <a:cubicBezTo>
                    <a:pt x="1175555" y="622300"/>
                    <a:pt x="1139995" y="594360"/>
                    <a:pt x="1073955" y="556260"/>
                  </a:cubicBezTo>
                  <a:cubicBezTo>
                    <a:pt x="940605" y="481330"/>
                    <a:pt x="577385" y="328930"/>
                    <a:pt x="432605" y="281940"/>
                  </a:cubicBezTo>
                  <a:cubicBezTo>
                    <a:pt x="361485" y="260350"/>
                    <a:pt x="325925" y="265430"/>
                    <a:pt x="268775" y="247650"/>
                  </a:cubicBezTo>
                  <a:cubicBezTo>
                    <a:pt x="198925" y="227330"/>
                    <a:pt x="88435" y="189230"/>
                    <a:pt x="46525" y="160020"/>
                  </a:cubicBezTo>
                  <a:cubicBezTo>
                    <a:pt x="24935" y="146050"/>
                    <a:pt x="12235" y="133350"/>
                    <a:pt x="5885" y="116840"/>
                  </a:cubicBezTo>
                  <a:cubicBezTo>
                    <a:pt x="-1735" y="99060"/>
                    <a:pt x="-1735" y="73660"/>
                    <a:pt x="4615" y="57150"/>
                  </a:cubicBezTo>
                  <a:cubicBezTo>
                    <a:pt x="10965" y="39370"/>
                    <a:pt x="28745" y="20320"/>
                    <a:pt x="42715" y="11430"/>
                  </a:cubicBezTo>
                  <a:cubicBezTo>
                    <a:pt x="55415" y="3810"/>
                    <a:pt x="69385" y="1270"/>
                    <a:pt x="82085" y="0"/>
                  </a:cubicBezTo>
                  <a:cubicBezTo>
                    <a:pt x="94785" y="0"/>
                    <a:pt x="121455" y="8890"/>
                    <a:pt x="121455" y="8890"/>
                  </a:cubicBezTo>
                </a:path>
              </a:pathLst>
            </a:custGeom>
            <a:solidFill>
              <a:srgbClr val="94AAB8"/>
            </a:solidFill>
            <a:ln cap="sq">
              <a:noFill/>
              <a:prstDash val="solid"/>
              <a:miter/>
            </a:ln>
          </p:spPr>
        </p:sp>
      </p:grpSp>
      <p:grpSp>
        <p:nvGrpSpPr>
          <p:cNvPr name="Group 31" id="31"/>
          <p:cNvGrpSpPr/>
          <p:nvPr/>
        </p:nvGrpSpPr>
        <p:grpSpPr>
          <a:xfrm rot="0">
            <a:off x="2945548" y="5261168"/>
            <a:ext cx="623040" cy="281444"/>
            <a:chOff x="0" y="0"/>
            <a:chExt cx="1433830" cy="647700"/>
          </a:xfrm>
        </p:grpSpPr>
        <p:sp>
          <p:nvSpPr>
            <p:cNvPr name="Freeform 32" id="32"/>
            <p:cNvSpPr/>
            <p:nvPr/>
          </p:nvSpPr>
          <p:spPr>
            <a:xfrm flipH="false" flipV="false" rot="0">
              <a:off x="50476" y="49118"/>
              <a:ext cx="1335898" cy="546992"/>
            </a:xfrm>
            <a:custGeom>
              <a:avLst/>
              <a:gdLst/>
              <a:ahLst/>
              <a:cxnLst/>
              <a:rect r="r" b="b" t="t" l="l"/>
              <a:pathLst>
                <a:path h="546992" w="1335898">
                  <a:moveTo>
                    <a:pt x="1289374" y="160432"/>
                  </a:moveTo>
                  <a:cubicBezTo>
                    <a:pt x="980764" y="291242"/>
                    <a:pt x="932504" y="287432"/>
                    <a:pt x="855034" y="309022"/>
                  </a:cubicBezTo>
                  <a:cubicBezTo>
                    <a:pt x="730574" y="343312"/>
                    <a:pt x="518484" y="438562"/>
                    <a:pt x="380054" y="480472"/>
                  </a:cubicBezTo>
                  <a:cubicBezTo>
                    <a:pt x="277184" y="512222"/>
                    <a:pt x="160344" y="546512"/>
                    <a:pt x="101924" y="546512"/>
                  </a:cubicBezTo>
                  <a:cubicBezTo>
                    <a:pt x="76524" y="547782"/>
                    <a:pt x="60014" y="543972"/>
                    <a:pt x="44774" y="533812"/>
                  </a:cubicBezTo>
                  <a:cubicBezTo>
                    <a:pt x="28264" y="524922"/>
                    <a:pt x="13024" y="503332"/>
                    <a:pt x="6674" y="489362"/>
                  </a:cubicBezTo>
                  <a:cubicBezTo>
                    <a:pt x="1594" y="479202"/>
                    <a:pt x="-946" y="471582"/>
                    <a:pt x="324" y="460152"/>
                  </a:cubicBezTo>
                  <a:cubicBezTo>
                    <a:pt x="324" y="443642"/>
                    <a:pt x="5404" y="418242"/>
                    <a:pt x="15564" y="403002"/>
                  </a:cubicBezTo>
                  <a:cubicBezTo>
                    <a:pt x="25724" y="386492"/>
                    <a:pt x="44774" y="372522"/>
                    <a:pt x="62554" y="366172"/>
                  </a:cubicBezTo>
                  <a:cubicBezTo>
                    <a:pt x="80334" y="361092"/>
                    <a:pt x="107004" y="362362"/>
                    <a:pt x="122244" y="366172"/>
                  </a:cubicBezTo>
                  <a:cubicBezTo>
                    <a:pt x="133674" y="369982"/>
                    <a:pt x="140024" y="373792"/>
                    <a:pt x="148914" y="381412"/>
                  </a:cubicBezTo>
                  <a:cubicBezTo>
                    <a:pt x="160344" y="391572"/>
                    <a:pt x="176854" y="411892"/>
                    <a:pt x="181934" y="429672"/>
                  </a:cubicBezTo>
                  <a:cubicBezTo>
                    <a:pt x="187014" y="448722"/>
                    <a:pt x="183204" y="474122"/>
                    <a:pt x="179394" y="489362"/>
                  </a:cubicBezTo>
                  <a:cubicBezTo>
                    <a:pt x="175584" y="499522"/>
                    <a:pt x="171774" y="507142"/>
                    <a:pt x="162884" y="514762"/>
                  </a:cubicBezTo>
                  <a:cubicBezTo>
                    <a:pt x="151454" y="526192"/>
                    <a:pt x="131134" y="541432"/>
                    <a:pt x="112084" y="545242"/>
                  </a:cubicBezTo>
                  <a:cubicBezTo>
                    <a:pt x="94304" y="549052"/>
                    <a:pt x="70174" y="546512"/>
                    <a:pt x="53664" y="538892"/>
                  </a:cubicBezTo>
                  <a:cubicBezTo>
                    <a:pt x="35884" y="531272"/>
                    <a:pt x="19374" y="510952"/>
                    <a:pt x="10484" y="498252"/>
                  </a:cubicBezTo>
                  <a:cubicBezTo>
                    <a:pt x="4134" y="488092"/>
                    <a:pt x="1594" y="480472"/>
                    <a:pt x="324" y="469042"/>
                  </a:cubicBezTo>
                  <a:cubicBezTo>
                    <a:pt x="-946" y="453802"/>
                    <a:pt x="1594" y="427132"/>
                    <a:pt x="10484" y="410622"/>
                  </a:cubicBezTo>
                  <a:cubicBezTo>
                    <a:pt x="19374" y="394112"/>
                    <a:pt x="32074" y="381412"/>
                    <a:pt x="53664" y="369982"/>
                  </a:cubicBezTo>
                  <a:cubicBezTo>
                    <a:pt x="95574" y="348392"/>
                    <a:pt x="174314" y="350932"/>
                    <a:pt x="258134" y="328072"/>
                  </a:cubicBezTo>
                  <a:cubicBezTo>
                    <a:pt x="399104" y="289972"/>
                    <a:pt x="670884" y="174402"/>
                    <a:pt x="816934" y="135032"/>
                  </a:cubicBezTo>
                  <a:cubicBezTo>
                    <a:pt x="908374" y="110902"/>
                    <a:pt x="974414" y="115982"/>
                    <a:pt x="1045534" y="91852"/>
                  </a:cubicBezTo>
                  <a:cubicBezTo>
                    <a:pt x="1112844" y="70262"/>
                    <a:pt x="1186504" y="9302"/>
                    <a:pt x="1233494" y="1682"/>
                  </a:cubicBezTo>
                  <a:cubicBezTo>
                    <a:pt x="1257624" y="-2128"/>
                    <a:pt x="1276674" y="412"/>
                    <a:pt x="1293184" y="10572"/>
                  </a:cubicBezTo>
                  <a:cubicBezTo>
                    <a:pt x="1309694" y="19462"/>
                    <a:pt x="1324934" y="38512"/>
                    <a:pt x="1331284" y="56292"/>
                  </a:cubicBezTo>
                  <a:cubicBezTo>
                    <a:pt x="1337634" y="74072"/>
                    <a:pt x="1337634" y="98202"/>
                    <a:pt x="1330014" y="115982"/>
                  </a:cubicBezTo>
                  <a:cubicBezTo>
                    <a:pt x="1323664" y="133762"/>
                    <a:pt x="1289374" y="160432"/>
                    <a:pt x="1289374" y="160432"/>
                  </a:cubicBezTo>
                </a:path>
              </a:pathLst>
            </a:custGeom>
            <a:solidFill>
              <a:srgbClr val="94AAB8"/>
            </a:solidFill>
            <a:ln cap="sq">
              <a:noFill/>
              <a:prstDash val="solid"/>
              <a:miter/>
            </a:ln>
          </p:spPr>
        </p:sp>
      </p:grpSp>
      <p:sp>
        <p:nvSpPr>
          <p:cNvPr name="Freeform 33" id="33"/>
          <p:cNvSpPr/>
          <p:nvPr/>
        </p:nvSpPr>
        <p:spPr>
          <a:xfrm flipH="false" flipV="false" rot="0">
            <a:off x="10686839" y="428657"/>
            <a:ext cx="6348577" cy="5081344"/>
          </a:xfrm>
          <a:custGeom>
            <a:avLst/>
            <a:gdLst/>
            <a:ahLst/>
            <a:cxnLst/>
            <a:rect r="r" b="b" t="t" l="l"/>
            <a:pathLst>
              <a:path h="5081344" w="6348577">
                <a:moveTo>
                  <a:pt x="0" y="0"/>
                </a:moveTo>
                <a:lnTo>
                  <a:pt x="6348578" y="0"/>
                </a:lnTo>
                <a:lnTo>
                  <a:pt x="6348578" y="5081344"/>
                </a:lnTo>
                <a:lnTo>
                  <a:pt x="0" y="5081344"/>
                </a:lnTo>
                <a:lnTo>
                  <a:pt x="0" y="0"/>
                </a:lnTo>
                <a:close/>
              </a:path>
            </a:pathLst>
          </a:custGeom>
          <a:blipFill>
            <a:blip r:embed="rId6"/>
            <a:stretch>
              <a:fillRect l="0" t="0" r="-725" b="0"/>
            </a:stretch>
          </a:blipFill>
        </p:spPr>
      </p:sp>
      <p:sp>
        <p:nvSpPr>
          <p:cNvPr name="TextBox 34" id="34"/>
          <p:cNvSpPr txBox="true"/>
          <p:nvPr/>
        </p:nvSpPr>
        <p:spPr>
          <a:xfrm rot="0">
            <a:off x="1108281" y="3634677"/>
            <a:ext cx="2899450" cy="1385378"/>
          </a:xfrm>
          <a:prstGeom prst="rect">
            <a:avLst/>
          </a:prstGeom>
        </p:spPr>
        <p:txBody>
          <a:bodyPr anchor="t" rtlCol="false" tIns="0" lIns="0" bIns="0" rIns="0">
            <a:spAutoFit/>
          </a:bodyPr>
          <a:lstStyle/>
          <a:p>
            <a:pPr algn="ctr">
              <a:lnSpc>
                <a:spcPts val="1865"/>
              </a:lnSpc>
            </a:pPr>
            <a:r>
              <a:rPr lang="en-US" sz="1332" b="true">
                <a:solidFill>
                  <a:srgbClr val="3B365F"/>
                </a:solidFill>
                <a:latin typeface="Coco Gothic Bold"/>
                <a:ea typeface="Coco Gothic Bold"/>
                <a:cs typeface="Coco Gothic Bold"/>
                <a:sym typeface="Coco Gothic Bold"/>
              </a:rPr>
              <a:t>Kernels for Non-Linearity:</a:t>
            </a:r>
            <a:r>
              <a:rPr lang="en-US" sz="1332">
                <a:solidFill>
                  <a:srgbClr val="3B365F"/>
                </a:solidFill>
                <a:latin typeface="Coco Gothic"/>
                <a:ea typeface="Coco Gothic"/>
                <a:cs typeface="Coco Gothic"/>
                <a:sym typeface="Coco Gothic"/>
              </a:rPr>
              <a:t> SVM uses kernel functions (e.g., linear, polynomial, RBF) to transform data into higher dimensions, allowing for the separation of non-linearly separable classes.</a:t>
            </a:r>
          </a:p>
        </p:txBody>
      </p:sp>
      <p:sp>
        <p:nvSpPr>
          <p:cNvPr name="TextBox 35" id="35"/>
          <p:cNvSpPr txBox="true"/>
          <p:nvPr/>
        </p:nvSpPr>
        <p:spPr>
          <a:xfrm rot="0">
            <a:off x="5254494" y="3651395"/>
            <a:ext cx="2554259" cy="1608483"/>
          </a:xfrm>
          <a:prstGeom prst="rect">
            <a:avLst/>
          </a:prstGeom>
        </p:spPr>
        <p:txBody>
          <a:bodyPr anchor="t" rtlCol="false" tIns="0" lIns="0" bIns="0" rIns="0">
            <a:spAutoFit/>
          </a:bodyPr>
          <a:lstStyle/>
          <a:p>
            <a:pPr algn="ctr">
              <a:lnSpc>
                <a:spcPts val="1643"/>
              </a:lnSpc>
            </a:pPr>
            <a:r>
              <a:rPr lang="en-US" sz="1173" b="true">
                <a:solidFill>
                  <a:srgbClr val="3B365F"/>
                </a:solidFill>
                <a:latin typeface="Coco Gothic Bold"/>
                <a:ea typeface="Coco Gothic Bold"/>
                <a:cs typeface="Coco Gothic Bold"/>
                <a:sym typeface="Coco Gothic Bold"/>
              </a:rPr>
              <a:t>Regularization Parameter C: </a:t>
            </a:r>
            <a:r>
              <a:rPr lang="en-US" sz="1173">
                <a:solidFill>
                  <a:srgbClr val="3B365F"/>
                </a:solidFill>
                <a:latin typeface="Coco Gothic"/>
                <a:ea typeface="Coco Gothic"/>
                <a:cs typeface="Coco Gothic"/>
                <a:sym typeface="Coco Gothic"/>
              </a:rPr>
              <a:t>The parameter C balances the margin width and classification accuracy, with a small C allowing misclassifications for a wider margin, while a large C focuses on minimizing errors, which can lead to overfitting.</a:t>
            </a:r>
          </a:p>
        </p:txBody>
      </p:sp>
      <p:sp>
        <p:nvSpPr>
          <p:cNvPr name="TextBox 36" id="36"/>
          <p:cNvSpPr txBox="true"/>
          <p:nvPr/>
        </p:nvSpPr>
        <p:spPr>
          <a:xfrm rot="0">
            <a:off x="1743926" y="1646615"/>
            <a:ext cx="2899450" cy="1385378"/>
          </a:xfrm>
          <a:prstGeom prst="rect">
            <a:avLst/>
          </a:prstGeom>
        </p:spPr>
        <p:txBody>
          <a:bodyPr anchor="t" rtlCol="false" tIns="0" lIns="0" bIns="0" rIns="0">
            <a:spAutoFit/>
          </a:bodyPr>
          <a:lstStyle/>
          <a:p>
            <a:pPr algn="ctr">
              <a:lnSpc>
                <a:spcPts val="1865"/>
              </a:lnSpc>
            </a:pPr>
            <a:r>
              <a:rPr lang="en-US" sz="1332" b="true">
                <a:solidFill>
                  <a:srgbClr val="3B365F"/>
                </a:solidFill>
                <a:latin typeface="Coco Gothic Bold"/>
                <a:ea typeface="Coco Gothic Bold"/>
                <a:cs typeface="Coco Gothic Bold"/>
                <a:sym typeface="Coco Gothic Bold"/>
              </a:rPr>
              <a:t>Maximizing the Margin:</a:t>
            </a:r>
            <a:r>
              <a:rPr lang="en-US" sz="1332">
                <a:solidFill>
                  <a:srgbClr val="3B365F"/>
                </a:solidFill>
                <a:latin typeface="Coco Gothic"/>
                <a:ea typeface="Coco Gothic"/>
                <a:cs typeface="Coco Gothic"/>
                <a:sym typeface="Coco Gothic"/>
              </a:rPr>
              <a:t> SVM identifies the hyperplane that separates classes while maximizing the margin between the closest data points (support vectors) of each class.</a:t>
            </a:r>
          </a:p>
        </p:txBody>
      </p:sp>
      <p:sp>
        <p:nvSpPr>
          <p:cNvPr name="TextBox 37" id="37"/>
          <p:cNvSpPr txBox="true"/>
          <p:nvPr/>
        </p:nvSpPr>
        <p:spPr>
          <a:xfrm rot="0">
            <a:off x="5817108" y="1646615"/>
            <a:ext cx="2899450" cy="1385378"/>
          </a:xfrm>
          <a:prstGeom prst="rect">
            <a:avLst/>
          </a:prstGeom>
        </p:spPr>
        <p:txBody>
          <a:bodyPr anchor="t" rtlCol="false" tIns="0" lIns="0" bIns="0" rIns="0">
            <a:spAutoFit/>
          </a:bodyPr>
          <a:lstStyle/>
          <a:p>
            <a:pPr algn="ctr">
              <a:lnSpc>
                <a:spcPts val="1865"/>
              </a:lnSpc>
            </a:pPr>
            <a:r>
              <a:rPr lang="en-US" sz="1332" b="true">
                <a:solidFill>
                  <a:srgbClr val="3B365F"/>
                </a:solidFill>
                <a:latin typeface="Coco Gothic Bold"/>
                <a:ea typeface="Coco Gothic Bold"/>
                <a:cs typeface="Coco Gothic Bold"/>
                <a:sym typeface="Coco Gothic Bold"/>
              </a:rPr>
              <a:t>Support Vectors: </a:t>
            </a:r>
            <a:r>
              <a:rPr lang="en-US" sz="1332">
                <a:solidFill>
                  <a:srgbClr val="3B365F"/>
                </a:solidFill>
                <a:latin typeface="Coco Gothic"/>
                <a:ea typeface="Coco Gothic"/>
                <a:cs typeface="Coco Gothic"/>
                <a:sym typeface="Coco Gothic"/>
              </a:rPr>
              <a:t>The closest points to the decision boundary, known as support vectors, are critical for defining the hyperplane; removing other points doesn’t impact the model.</a:t>
            </a:r>
          </a:p>
        </p:txBody>
      </p:sp>
      <p:sp>
        <p:nvSpPr>
          <p:cNvPr name="TextBox 38" id="38"/>
          <p:cNvSpPr txBox="true"/>
          <p:nvPr/>
        </p:nvSpPr>
        <p:spPr>
          <a:xfrm rot="0">
            <a:off x="397140" y="6845212"/>
            <a:ext cx="17357820" cy="13233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We defined a hyperparameter grid for tuning SVM parameters, including C, kernel types, gamma, and polynomial degrees, using “rbf” and “polynomial” kernels (excluding “linear” due to the non-linear nature of the data). To handle class imbalance, we used stratified K-fold cross-validation, ensuring class proportions remained consistent across folds. Using GridSearchCV, we identified the best parameters as {′C′:10,′degree′:2,′gamma′:0.1,′kernel′:′rbf′} achieving 71.64% cross-validation accuracy, with 75.24% on the training set and 67.48% on the test 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965349"/>
            <a:ext cx="18288000" cy="1321651"/>
            <a:chOff x="0" y="0"/>
            <a:chExt cx="4816593" cy="348089"/>
          </a:xfrm>
        </p:grpSpPr>
        <p:sp>
          <p:nvSpPr>
            <p:cNvPr name="Freeform 3" id="3"/>
            <p:cNvSpPr/>
            <p:nvPr/>
          </p:nvSpPr>
          <p:spPr>
            <a:xfrm flipH="false" flipV="false" rot="0">
              <a:off x="0" y="0"/>
              <a:ext cx="4816592" cy="348089"/>
            </a:xfrm>
            <a:custGeom>
              <a:avLst/>
              <a:gdLst/>
              <a:ahLst/>
              <a:cxnLst/>
              <a:rect r="r" b="b" t="t" l="l"/>
              <a:pathLst>
                <a:path h="348089" w="4816592">
                  <a:moveTo>
                    <a:pt x="0" y="0"/>
                  </a:moveTo>
                  <a:lnTo>
                    <a:pt x="4816592" y="0"/>
                  </a:lnTo>
                  <a:lnTo>
                    <a:pt x="4816592" y="348089"/>
                  </a:lnTo>
                  <a:lnTo>
                    <a:pt x="0" y="348089"/>
                  </a:lnTo>
                  <a:close/>
                </a:path>
              </a:pathLst>
            </a:custGeom>
            <a:solidFill>
              <a:srgbClr val="565FA6"/>
            </a:solidFill>
          </p:spPr>
        </p:sp>
        <p:sp>
          <p:nvSpPr>
            <p:cNvPr name="TextBox 4" id="4"/>
            <p:cNvSpPr txBox="true"/>
            <p:nvPr/>
          </p:nvSpPr>
          <p:spPr>
            <a:xfrm>
              <a:off x="0" y="-38100"/>
              <a:ext cx="4816593" cy="38618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152317" y="4269319"/>
            <a:ext cx="5983367" cy="5502173"/>
          </a:xfrm>
          <a:custGeom>
            <a:avLst/>
            <a:gdLst/>
            <a:ahLst/>
            <a:cxnLst/>
            <a:rect r="r" b="b" t="t" l="l"/>
            <a:pathLst>
              <a:path h="5502173" w="5983367">
                <a:moveTo>
                  <a:pt x="0" y="0"/>
                </a:moveTo>
                <a:lnTo>
                  <a:pt x="5983366" y="0"/>
                </a:lnTo>
                <a:lnTo>
                  <a:pt x="5983366" y="5502173"/>
                </a:lnTo>
                <a:lnTo>
                  <a:pt x="0" y="5502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11557" y="1699079"/>
            <a:ext cx="316044" cy="316044"/>
          </a:xfrm>
          <a:custGeom>
            <a:avLst/>
            <a:gdLst/>
            <a:ahLst/>
            <a:cxnLst/>
            <a:rect r="r" b="b" t="t" l="l"/>
            <a:pathLst>
              <a:path h="316044" w="316044">
                <a:moveTo>
                  <a:pt x="0" y="0"/>
                </a:moveTo>
                <a:lnTo>
                  <a:pt x="316044" y="0"/>
                </a:lnTo>
                <a:lnTo>
                  <a:pt x="316044" y="316044"/>
                </a:lnTo>
                <a:lnTo>
                  <a:pt x="0" y="3160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841323" y="1618997"/>
            <a:ext cx="368629" cy="469319"/>
          </a:xfrm>
          <a:custGeom>
            <a:avLst/>
            <a:gdLst/>
            <a:ahLst/>
            <a:cxnLst/>
            <a:rect r="r" b="b" t="t" l="l"/>
            <a:pathLst>
              <a:path h="469319" w="368629">
                <a:moveTo>
                  <a:pt x="0" y="0"/>
                </a:moveTo>
                <a:lnTo>
                  <a:pt x="368629" y="0"/>
                </a:lnTo>
                <a:lnTo>
                  <a:pt x="368629" y="469320"/>
                </a:lnTo>
                <a:lnTo>
                  <a:pt x="0" y="4693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841323" y="2275794"/>
            <a:ext cx="422137" cy="422137"/>
          </a:xfrm>
          <a:custGeom>
            <a:avLst/>
            <a:gdLst/>
            <a:ahLst/>
            <a:cxnLst/>
            <a:rect r="r" b="b" t="t" l="l"/>
            <a:pathLst>
              <a:path h="422137" w="422137">
                <a:moveTo>
                  <a:pt x="0" y="0"/>
                </a:moveTo>
                <a:lnTo>
                  <a:pt x="422137" y="0"/>
                </a:lnTo>
                <a:lnTo>
                  <a:pt x="422137" y="422137"/>
                </a:lnTo>
                <a:lnTo>
                  <a:pt x="0" y="4221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841323" y="2875345"/>
            <a:ext cx="432057" cy="432057"/>
          </a:xfrm>
          <a:custGeom>
            <a:avLst/>
            <a:gdLst/>
            <a:ahLst/>
            <a:cxnLst/>
            <a:rect r="r" b="b" t="t" l="l"/>
            <a:pathLst>
              <a:path h="432057" w="432057">
                <a:moveTo>
                  <a:pt x="0" y="0"/>
                </a:moveTo>
                <a:lnTo>
                  <a:pt x="432057" y="0"/>
                </a:lnTo>
                <a:lnTo>
                  <a:pt x="432057" y="432057"/>
                </a:lnTo>
                <a:lnTo>
                  <a:pt x="0" y="4320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841323" y="3536953"/>
            <a:ext cx="417577" cy="268768"/>
          </a:xfrm>
          <a:custGeom>
            <a:avLst/>
            <a:gdLst/>
            <a:ahLst/>
            <a:cxnLst/>
            <a:rect r="r" b="b" t="t" l="l"/>
            <a:pathLst>
              <a:path h="268768" w="417577">
                <a:moveTo>
                  <a:pt x="0" y="0"/>
                </a:moveTo>
                <a:lnTo>
                  <a:pt x="417577" y="0"/>
                </a:lnTo>
                <a:lnTo>
                  <a:pt x="417577" y="268768"/>
                </a:lnTo>
                <a:lnTo>
                  <a:pt x="0" y="2687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1654361" y="2386568"/>
            <a:ext cx="7489639" cy="1185292"/>
          </a:xfrm>
          <a:prstGeom prst="rect">
            <a:avLst/>
          </a:prstGeom>
        </p:spPr>
        <p:txBody>
          <a:bodyPr anchor="t" rtlCol="false" tIns="0" lIns="0" bIns="0" rIns="0">
            <a:spAutoFit/>
          </a:bodyPr>
          <a:lstStyle/>
          <a:p>
            <a:pPr algn="ctr">
              <a:lnSpc>
                <a:spcPts val="8832"/>
              </a:lnSpc>
            </a:pPr>
            <a:r>
              <a:rPr lang="en-US" sz="9200" b="true">
                <a:solidFill>
                  <a:srgbClr val="18253B"/>
                </a:solidFill>
                <a:latin typeface="Livvic Bold"/>
                <a:ea typeface="Livvic Bold"/>
                <a:cs typeface="Livvic Bold"/>
                <a:sym typeface="Livvic Bold"/>
              </a:rPr>
              <a:t>Thank you!</a:t>
            </a:r>
          </a:p>
        </p:txBody>
      </p:sp>
      <p:sp>
        <p:nvSpPr>
          <p:cNvPr name="TextBox 12" id="12"/>
          <p:cNvSpPr txBox="true"/>
          <p:nvPr/>
        </p:nvSpPr>
        <p:spPr>
          <a:xfrm rot="0">
            <a:off x="4153307" y="1727446"/>
            <a:ext cx="4990693" cy="313250"/>
          </a:xfrm>
          <a:prstGeom prst="rect">
            <a:avLst/>
          </a:prstGeom>
        </p:spPr>
        <p:txBody>
          <a:bodyPr anchor="t" rtlCol="false" tIns="0" lIns="0" bIns="0" rIns="0">
            <a:spAutoFit/>
          </a:bodyPr>
          <a:lstStyle/>
          <a:p>
            <a:pPr algn="l">
              <a:lnSpc>
                <a:spcPts val="2366"/>
              </a:lnSpc>
            </a:pPr>
            <a:r>
              <a:rPr lang="en-US" sz="2464">
                <a:solidFill>
                  <a:srgbClr val="18253B"/>
                </a:solidFill>
                <a:latin typeface="Livvic"/>
                <a:ea typeface="Livvic"/>
                <a:cs typeface="Livvic"/>
                <a:sym typeface="Livvic"/>
              </a:rPr>
              <a:t>Breaking Code</a:t>
            </a:r>
          </a:p>
        </p:txBody>
      </p:sp>
      <p:sp>
        <p:nvSpPr>
          <p:cNvPr name="TextBox 13" id="13"/>
          <p:cNvSpPr txBox="true"/>
          <p:nvPr/>
        </p:nvSpPr>
        <p:spPr>
          <a:xfrm rot="0">
            <a:off x="11538512" y="1622671"/>
            <a:ext cx="5438373" cy="414346"/>
          </a:xfrm>
          <a:prstGeom prst="rect">
            <a:avLst/>
          </a:prstGeom>
        </p:spPr>
        <p:txBody>
          <a:bodyPr anchor="t" rtlCol="false" tIns="0" lIns="0" bIns="0" rIns="0">
            <a:spAutoFit/>
          </a:bodyPr>
          <a:lstStyle/>
          <a:p>
            <a:pPr algn="l" marL="0" indent="0" lvl="0">
              <a:lnSpc>
                <a:spcPts val="3412"/>
              </a:lnSpc>
              <a:spcBef>
                <a:spcPct val="0"/>
              </a:spcBef>
            </a:pPr>
            <a:r>
              <a:rPr lang="en-US" sz="2437">
                <a:solidFill>
                  <a:srgbClr val="18253B"/>
                </a:solidFill>
                <a:latin typeface="Livvic"/>
                <a:ea typeface="Livvic"/>
                <a:cs typeface="Livvic"/>
                <a:sym typeface="Livvic"/>
              </a:rPr>
              <a:t>IIT JODHPUR</a:t>
            </a:r>
          </a:p>
        </p:txBody>
      </p:sp>
      <p:sp>
        <p:nvSpPr>
          <p:cNvPr name="TextBox 14" id="14"/>
          <p:cNvSpPr txBox="true"/>
          <p:nvPr/>
        </p:nvSpPr>
        <p:spPr>
          <a:xfrm rot="0">
            <a:off x="11538512" y="2228169"/>
            <a:ext cx="5438373" cy="414346"/>
          </a:xfrm>
          <a:prstGeom prst="rect">
            <a:avLst/>
          </a:prstGeom>
        </p:spPr>
        <p:txBody>
          <a:bodyPr anchor="t" rtlCol="false" tIns="0" lIns="0" bIns="0" rIns="0">
            <a:spAutoFit/>
          </a:bodyPr>
          <a:lstStyle/>
          <a:p>
            <a:pPr algn="l" marL="0" indent="0" lvl="0">
              <a:lnSpc>
                <a:spcPts val="3412"/>
              </a:lnSpc>
              <a:spcBef>
                <a:spcPct val="0"/>
              </a:spcBef>
            </a:pPr>
            <a:r>
              <a:rPr lang="en-US" sz="2437">
                <a:solidFill>
                  <a:srgbClr val="18253B"/>
                </a:solidFill>
                <a:latin typeface="Livvic"/>
                <a:ea typeface="Livvic"/>
                <a:cs typeface="Livvic"/>
                <a:sym typeface="Livvic"/>
              </a:rPr>
              <a:t>123-456-7890</a:t>
            </a:r>
          </a:p>
        </p:txBody>
      </p:sp>
      <p:sp>
        <p:nvSpPr>
          <p:cNvPr name="TextBox 15" id="15"/>
          <p:cNvSpPr txBox="true"/>
          <p:nvPr/>
        </p:nvSpPr>
        <p:spPr>
          <a:xfrm rot="0">
            <a:off x="11538512" y="2833667"/>
            <a:ext cx="5438373" cy="414346"/>
          </a:xfrm>
          <a:prstGeom prst="rect">
            <a:avLst/>
          </a:prstGeom>
        </p:spPr>
        <p:txBody>
          <a:bodyPr anchor="t" rtlCol="false" tIns="0" lIns="0" bIns="0" rIns="0">
            <a:spAutoFit/>
          </a:bodyPr>
          <a:lstStyle/>
          <a:p>
            <a:pPr algn="l" marL="0" indent="0" lvl="0">
              <a:lnSpc>
                <a:spcPts val="3412"/>
              </a:lnSpc>
              <a:spcBef>
                <a:spcPct val="0"/>
              </a:spcBef>
            </a:pPr>
            <a:r>
              <a:rPr lang="en-US" sz="2437">
                <a:solidFill>
                  <a:srgbClr val="18253B"/>
                </a:solidFill>
                <a:latin typeface="Livvic"/>
                <a:ea typeface="Livvic"/>
                <a:cs typeface="Livvic"/>
                <a:sym typeface="Livvic"/>
              </a:rPr>
              <a:t>www.reallygreatproject.com</a:t>
            </a:r>
          </a:p>
        </p:txBody>
      </p:sp>
      <p:sp>
        <p:nvSpPr>
          <p:cNvPr name="TextBox 16" id="16"/>
          <p:cNvSpPr txBox="true"/>
          <p:nvPr/>
        </p:nvSpPr>
        <p:spPr>
          <a:xfrm rot="0">
            <a:off x="11538512" y="3439164"/>
            <a:ext cx="5438373" cy="414346"/>
          </a:xfrm>
          <a:prstGeom prst="rect">
            <a:avLst/>
          </a:prstGeom>
        </p:spPr>
        <p:txBody>
          <a:bodyPr anchor="t" rtlCol="false" tIns="0" lIns="0" bIns="0" rIns="0">
            <a:spAutoFit/>
          </a:bodyPr>
          <a:lstStyle/>
          <a:p>
            <a:pPr algn="l" marL="0" indent="0" lvl="0">
              <a:lnSpc>
                <a:spcPts val="3412"/>
              </a:lnSpc>
              <a:spcBef>
                <a:spcPct val="0"/>
              </a:spcBef>
            </a:pPr>
            <a:r>
              <a:rPr lang="en-US" sz="2437">
                <a:solidFill>
                  <a:srgbClr val="18253B"/>
                </a:solidFill>
                <a:latin typeface="Livvic"/>
                <a:ea typeface="Livvic"/>
                <a:cs typeface="Livvic"/>
                <a:sym typeface="Livvic"/>
              </a:rPr>
              <a:t>hello@reallygreatproject.com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DAGViHXR0Vk</dc:identifier>
  <dcterms:modified xsi:type="dcterms:W3CDTF">2011-08-01T06:04:30Z</dcterms:modified>
  <cp:revision>1</cp:revision>
  <dc:title>MATERNAL HEALTH RISK</dc:title>
</cp:coreProperties>
</file>